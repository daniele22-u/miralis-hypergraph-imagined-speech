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18"/>
  </p:normalViewPr>
  <p:slideViewPr>
    <p:cSldViewPr snapToGrid="0" snapToObjects="1">
      <p:cViewPr>
        <p:scale>
          <a:sx n="120" d="100"/>
          <a:sy n="120" d="100"/>
        </p:scale>
        <p:origin x="44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66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Presentazione dello stato attuale del progetto di tesi.</a:t>
            </a:r>
          </a:p>
          <a:p>
            <a:r>
              <a:t>Obiettivo: costruire un dizionario neurale semantico che decodifichi il parlato immaginato da segnali EEG usando GNN e Hypergraph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task è a 4 classi (schema concr4): parole concr etiche, di azione, di stato, astratte.</a:t>
            </a:r>
          </a:p>
          <a:p>
            <a:r>
              <a:t>Chance level = 25% per classi bilanciate.</a:t>
            </a:r>
          </a:p>
          <a:p>
            <a:r>
              <a:t>Metrica principale: Balanced Accuracy (val_bacc) perché le classi sono leggermente sbilanciate (ASTRATTO=33%, CONCR=13%).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Questo è il finding principale del progetto, emerso già nelle analisi esplorative.</a:t>
            </a:r>
          </a:p>
          <a:p>
            <a:r>
              <a:t>ε²=0.85 significa che l'85% della varianza tra trial EEG è spiegata dall'identità del soggetto, non dalla parola immaginata.</a:t>
            </a:r>
          </a:p>
          <a:p>
            <a:r>
              <a:t>Confronto: in fMRI il rapporto è molto più favorevole alla parola — EEG è intrinsecamente più rumoroso e soggetto-dipendente.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Schema cronologico degli esperimenti.</a:t>
            </a:r>
          </a:p>
          <a:p>
            <a:r>
              <a:t>EEG_05/07: baseline con architetture standard Braindecode (EEGNet, Deep4Net, EEGConformer, etc.)</a:t>
            </a:r>
          </a:p>
          <a:p>
            <a:r>
              <a:t>EEG_06: subject-specific — stessa architettura ma train/test sullo stesso soggetto (sessioni diverse)</a:t>
            </a:r>
          </a:p>
          <a:p>
            <a:r>
              <a:t>EEG_08: primo contributo originale — ChebGCN su grafo funzionale (PCC/PLV/wPLI)</a:t>
            </a:r>
          </a:p>
          <a:p>
            <a:r>
              <a:t>EEG_09: tentativo domain adaptation con GRL (Gradient Reversal Layer)</a:t>
            </a:r>
          </a:p>
          <a:p>
            <a:r>
              <a:t>EEG_10: modelli avanzati (LGGNet, AT-DGNN, DiffPool)</a:t>
            </a:r>
          </a:p>
          <a:p>
            <a:r>
              <a:t>EEG_11: Hypergraph Neural Networks — contributo principale della tesi</a:t>
            </a:r>
          </a:p>
          <a:p>
            <a:r>
              <a:t>Tutti convergono a 25% (chance). Il problema è strutturale.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EEG_07 è il 5-fold cross-validation di EEG_05. I risultati sono quasi identici tra fold (std ~0.001), il che indica che il fallimento è sistematico e robusto.</a:t>
            </a:r>
          </a:p>
          <a:p>
            <a:r>
              <a:t>La differenza tra val_bacc e test_bacc (0.255 vs 0.250) è un artefatto dello sbilanciamento delle classi, non un segnale reale.</a:t>
            </a:r>
          </a:p>
          <a:p>
            <a:r>
              <a:t>Bomatter et al. 2025: servono &gt;200 soggetti per ottenere generalizzazione cross-subject — noi ne abbiamo 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EEG_06 completato il 18 aprile 2026. 10 soggetti, 6 modelli.</a:t>
            </a:r>
          </a:p>
          <a:p>
            <a:r>
              <a:t>L'outlier Deep4Net a 0.344 è il dato più importante: dimostra che il segnale esiste in alcuni soggetti (il modello 'ci riesce' per quel soggetto), ma non è generalizzabile.</a:t>
            </a:r>
          </a:p>
          <a:p>
            <a:r>
              <a:t>La mediana a ~25% suggerisce che la maggior parte dei soggetti non produce un segnale EEG imagined speech decodificabile con questi modelli e questi dati.</a:t>
            </a:r>
          </a:p>
          <a:p>
            <a:r>
              <a:t>Implicazione per la tesi: il risultato subject-specific basso rafforza la motivazione per il meta-learning (adattamento fast con pochi trial).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EEG_07d è la prova formale del fallimento. Due risultati chiave:</a:t>
            </a:r>
          </a:p>
          <a:p>
            <a:r>
              <a:t>1) Subject fingerprint: stessa-categoria/soggetti-diversi ha similarity 0.705, stesso-soggetto/categorie-diverse ha 0.801. Il soggetto conta 8.6 volte più della categoria.</a:t>
            </a:r>
          </a:p>
          <a:p>
            <a:r>
              <a:t>2) Spettro Laplaciano: tutte le categorie hanno la stessa distribuzione degli autovalori del grafo Laplaciano. ChebGCN applica filtri polinomiali sugli autovalori → se gli autovalori sono identici per tutte le categorie, il modello non può distinguerle per definizione.</a:t>
            </a:r>
          </a:p>
          <a:p>
            <a:r>
              <a:t>Questo non è un fallimento del tuning o dell'architettura: è un limite matematico.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EEG_08 è il primo contributo originale GNN della tesi.</a:t>
            </a:r>
          </a:p>
          <a:p>
            <a:r>
              <a:t>Grafo PCC: Pearson Correlation Coefficient tra i 59 canali EEG, k-NN con k=6.</a:t>
            </a:r>
          </a:p>
          <a:p>
            <a:r>
              <a:t>ChebConv(K=2): filtri di Chebyshev di ordine 2 — implementazione ispirata a GCNs-Net (Lun et al., IEEE TNSRE 2022).</a:t>
            </a:r>
          </a:p>
          <a:p>
            <a:r>
              <a:t>Il problema del class collapse: con classi sbilanciate, senza class weights il modello predice sempre ASTRATTO (classe più frequente). Con class weights, predice sempre STATO. In nessun caso impara pattern semantici.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EEG_09 implementa il domain adversarial training con GRL (Gradient Reversal Layer).</a:t>
            </a:r>
          </a:p>
          <a:p>
            <a:r>
              <a:t>L'idea: aggiungere un discriminatore che predice l'identità del soggetto dall'embedding. Invertendo il gradiente del discriminatore, forziamo l'encoder a rimuovere l'informazione soggetto.</a:t>
            </a:r>
          </a:p>
          <a:p>
            <a:r>
              <a:t>Risultato: funziona tecnicamente (alpha GRL raggiunge 1.0) ma porta al collasso totale. Questo conferma che il segnale soggetto era l'UNICA cosa che il modello stava imparando.</a:t>
            </a:r>
          </a:p>
          <a:p>
            <a:r>
              <a:t>Confronto SOTA: FAST 2025 (Jiang et al., 57 soggetti, 5 classi, strict LOSO): test_bacc=26.9% (+6.9% su chance=20%). Il problema è aperto in letteratura.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EEG_10 testa 3 architetture avanzate:</a:t>
            </a:r>
          </a:p>
          <a:p>
            <a:r>
              <a:t>- LGGNet (Lei et al.): graph neural network con lateral graph convolution per EEG motoria. Adattata a imagined speech.</a:t>
            </a:r>
          </a:p>
          <a:p>
            <a:r>
              <a:t>- AT-DGNN: attention-based dynamic graph neural network.</a:t>
            </a:r>
          </a:p>
          <a:p>
            <a:r>
              <a:t>- DiffPool: pooling gerarchico differenziabile.</a:t>
            </a:r>
          </a:p>
          <a:p>
            <a:r>
              <a:t>Il risultato più illuminante è LGGNet: la loss converge esattamente a ln(4) = 1.386, che è il minimo teorico per output uniforme. Il modello non è 'confuso' — sta trovando la soluzione ottimale per un problema senza segnale.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EEG_11 è il contributo principale della tesi.</a:t>
            </a:r>
          </a:p>
          <a:p>
            <a:r>
              <a:t>Hypergraph: invece di edge binari (elettrodo A ↔ elettrodo B), gli iperspigoli connettono K elettrodi contemporaneamente (cluster topologico). Questo cattura relazioni multi-nodo che il grafo standard non può rappresentare.</a:t>
            </a:r>
          </a:p>
          <a:p>
            <a:r>
              <a:t>I 3 modelli implementati:</a:t>
            </a:r>
          </a:p>
          <a:p>
            <a:r>
              <a:t>- HGNN_2L: baseline con iperspigoli statici calcolati da PCC (Feng et al. 2019)</a:t>
            </a:r>
          </a:p>
          <a:p>
            <a:r>
              <a:t>- HGNN_2L_DYN: il secondo layer ricalcola gli iperspigoli per ogni trial (ispirazione Li et al. 2025)</a:t>
            </a:r>
          </a:p>
          <a:p>
            <a:r>
              <a:t>- HGNN_ATT_2L: attention sugli iperspigoli (AllSet, Chien et al. 2022) — pesatura adattiva</a:t>
            </a:r>
          </a:p>
          <a:p>
            <a:r>
              <a:t>Anche qui, tutti a chance. La motivazione strutturale di EEG_07d spiega perché: gli iperspigoli sono costruiti dallo stesso PCC che ha spettro Laplaciano identico tra categorie.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97EB3-1B5A-B48A-7D2B-9D093368D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D13B0-BB25-A0CC-AFD0-F4C395E80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E58AD-CC84-E348-03BD-667D39B82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EEG_11 è il contributo principale della tesi.</a:t>
            </a:r>
          </a:p>
          <a:p>
            <a:r>
              <a:t>Hypergraph: invece di edge binari (elettrodo A ↔ elettrodo B), gli iperspigoli connettono K elettrodi contemporaneamente (cluster topologico). Questo cattura relazioni multi-nodo che il grafo standard non può rappresentare.</a:t>
            </a:r>
          </a:p>
          <a:p>
            <a:r>
              <a:t>I 3 modelli implementati:</a:t>
            </a:r>
          </a:p>
          <a:p>
            <a:r>
              <a:t>- HGNN_2L: baseline con iperspigoli statici calcolati da PCC (Feng et al. 2019)</a:t>
            </a:r>
          </a:p>
          <a:p>
            <a:r>
              <a:t>- HGNN_2L_DYN: il secondo layer ricalcola gli iperspigoli per ogni trial (ispirazione Li et al. 2025)</a:t>
            </a:r>
          </a:p>
          <a:p>
            <a:r>
              <a:t>- HGNN_ATT_2L: attention sugli iperspigoli (AllSet, Chien et al. 2022) — pesatura adattiva</a:t>
            </a:r>
          </a:p>
          <a:p>
            <a:r>
              <a:t>Anche qui, tutti a chance. La motivazione strutturale di EEG_07d spiega perché: gli iperspigoli sono costruiti dallo stesso PCC che ha spettro Laplaciano identico tra categorie.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58478-1450-8203-CB26-94F992339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34967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Tabella riassuntiva di tutti gli esperimenti.</a:t>
            </a:r>
          </a:p>
          <a:p>
            <a:r>
              <a:t>Il pattern è consistente: nessuna architettura, nessuna strategia di dominio, nessuna topologia grafo riesce a superare chance cross-subject.</a:t>
            </a:r>
          </a:p>
          <a:p>
            <a:r>
              <a:t>L'unico dato positivo è l'outlier Deep4Net in EEG_06 (subject-specific, 34.4%) — dimostra che il segnale esiste in alcuni soggetti.</a:t>
            </a:r>
          </a:p>
          <a:p>
            <a:r>
              <a:t>Confronto SOTA: il problema è difficile anche in letteratura. Li et al. 2025 ottengono risultati eccellenti ma in setting molto più controllati (pochi soggetti, molti trial per soggetto).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Questa slide riassume le 4 prove convergenti del fallimento.</a:t>
            </a:r>
          </a:p>
          <a:p>
            <a:r>
              <a:t>La chiave è che le prove vengono da QUATTRO angolazioni diverse e indipendenti:</a:t>
            </a:r>
          </a:p>
          <a:p>
            <a:r>
              <a:t>1) Analisi statistica pre-training (ANOVA degli edge)</a:t>
            </a:r>
          </a:p>
          <a:p>
            <a:r>
              <a:t>2) Analisi strutturale del grafo (fingerprint, spettro Laplaciano)</a:t>
            </a:r>
          </a:p>
          <a:p>
            <a:r>
              <a:t>3) Esperimento di perturbazione (domain adversarial)</a:t>
            </a:r>
          </a:p>
          <a:p>
            <a:r>
              <a:t>4) Osservazione del comportamento di training (convergenza a ln(4))</a:t>
            </a:r>
          </a:p>
          <a:p>
            <a:r>
              <a:t>Quando 4 angolazioni diverse convergono alla stessa conclusione, il risultato è robusto.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meta-learning è il naturale passo successivo dato il fallimento cross-subject e subject-specific.</a:t>
            </a:r>
          </a:p>
          <a:p>
            <a:r>
              <a:t>Prototypical Networks (Snell et al. 2017) sono particolarmente adatti per EEG:</a:t>
            </a:r>
          </a:p>
          <a:p>
            <a:r>
              <a:t>- Non richiedono gradient steps al test time (al contrario di MAML)</a:t>
            </a:r>
          </a:p>
          <a:p>
            <a:r>
              <a:t>- Funzionano bene con pochi shot</a:t>
            </a:r>
          </a:p>
          <a:p>
            <a:r>
              <a:t>- L'idea del 'prototipo per classe' è naturale per EEG: prototipo = pattern medio di una categoria per quel soggetto</a:t>
            </a:r>
          </a:p>
          <a:p>
            <a:r>
              <a:t>Alternativamente: MAML, Reptile, o anche transfer learning fine-tuning da backbone pre-trained.</a:t>
            </a:r>
          </a:p>
          <a:p>
            <a:r>
              <a:t>Biblioteca: learn2learn (pip install learn2learn) o implementazione custom con episodic DataLoader.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conclusiva.</a:t>
            </a:r>
          </a:p>
          <a:p>
            <a:r>
              <a:t>Lo stato attuale è che abbiamo una documentazione completa e rigorosa del fallimento cross-subject, con 4 prove indipendenti convergenti.</a:t>
            </a:r>
          </a:p>
          <a:p>
            <a:r>
              <a:t>Questo in realtà è un contributo in sé: dimostrare che nessuna architettura GNN (statica, dinamica, ipergraph) riesce a superare il problema ε²=0.85 è un risultato rilevante.</a:t>
            </a:r>
          </a:p>
          <a:p>
            <a:r>
              <a:t>Il meta-learning è il naturale passo successivo, motivato sia dai risultati negativi che dalla letteratura (Bomatter 2025, FAST 2025).</a:t>
            </a:r>
          </a:p>
          <a:p>
            <a:r>
              <a:t>Timeline: se EEG_12 funziona, la tesi ha una struttura completa: baseline → GNN → HGNN (fallimento sistematico) → meta-learning (soluzione).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EEG Imagined Speech Decoding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ADCFC"/>
                </a:solidFill>
                <a:latin typeface="Calibri"/>
              </a:rPr>
              <a:t>con Graph Neural Networks e Hypergraph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331720"/>
            <a:ext cx="3931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  <a:latin typeface="Calibri"/>
              </a:rPr>
              <a:t>Stato dei Lavori — Aprile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Daniele Uras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ADCFC"/>
                </a:solidFill>
                <a:latin typeface="Calibri"/>
              </a:rPr>
              <a:t>Tesi Magistrale — Politecnico di Milano, DEIB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Obiettivo 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Cosa vogliamo fare e con cosa lavoriamo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2/15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Obiettivo della Tesi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30352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54864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Decodificare il 'parlato immaginato' da segnali EEG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54864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2402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Mappare pattern cerebrali a categorie semantiche (concretezza: CONCR / AZIONE / STATO / ASTRATTO)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54864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9260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Contributo principale: Hypergraph Neural Networks per relazioni multi-elettrodo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54864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Target da letteratura: Li et al. 2025 (DHSLP) → 78% accuracy subject-specific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Dataset EEG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54864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46888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581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Soggetti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554480"/>
            <a:ext cx="246888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1581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110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Parole immaginarie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77440"/>
            <a:ext cx="246888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404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Canali EEG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377440"/>
            <a:ext cx="246888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52560" y="2404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256 Hz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Frequenza di campionamento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00400"/>
            <a:ext cx="246888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32278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~1.5s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Durata epoca (384 campioni)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3200400"/>
            <a:ext cx="246888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52560" y="32278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Sessioni per soggetto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023360"/>
            <a:ext cx="246888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40507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~38.000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Trial totali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4023360"/>
            <a:ext cx="2468880" cy="6858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52560" y="40507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Cluster semantici (concr4)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074920"/>
            <a:ext cx="1143000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5120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5000"/>
                </a:solidFill>
                <a:latin typeface="Calibri"/>
              </a:rPr>
              <a:t>⚠  Chance level: 25.0% (4 classi bilanciate). Tutte le metriche sono Balanced Accuracy (val_bacc / test_bacc).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Il Problema Fondamentale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La variabilità inter-soggetto domina il segnale semantico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3/15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029200" cy="274320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E2761"/>
                </a:solidFill>
                <a:latin typeface="Calibri"/>
              </a:rPr>
              <a:t>ε² = 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F8C8D"/>
                </a:solidFill>
                <a:latin typeface="Calibri"/>
              </a:rPr>
              <a:t>varianza spiegata dal soggetto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697480"/>
            <a:ext cx="301752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ε² = 0.03  per la parola immaginata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Il 'segnale' della parola è ~28× più piccolo del 'segnale' dell'identità del soggetto.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051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Implicazioni pratiche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417320"/>
            <a:ext cx="59436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0" y="1600200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600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Cross-subject puro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920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Ogni soggetto = dominio separato. Il modello vede 'impronte digitali cerebrali', non parole.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606040"/>
            <a:ext cx="73152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26060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Subject-specific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926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 segnale esiste per alcuni soggetti, ma 330 trial/soggetto sono pochissimi.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611880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36118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Domain adaptation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31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Rimuovere il segnale soggetto (adversarial) porta al collasso totale: non rimane niente.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617720"/>
            <a:ext cx="73152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4617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Meta-learning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377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Approccio promettente: impara ad adattarsi velocemente a nuovo soggetto con pochi trial.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Fonte: Bomatter et al. 2025 — servono &gt;200 soggetti per generalizzare cross-subject su EEG.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Mappa degli Esperimenti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Progressione dalla baseline alle HGNN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4/15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73736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EEG_05
EEG_07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1737360" cy="3429000"/>
          </a:xfrm>
          <a:prstGeom prst="rect">
            <a:avLst/>
          </a:prstGeom>
          <a:solidFill>
            <a:srgbClr val="F4F7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1783080"/>
            <a:ext cx="15910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C1"/>
                </a:solidFill>
                <a:latin typeface="Calibri"/>
              </a:rPr>
              <a:t>Baseline
Braindecode
(cross-subj)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514600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Cross-Subject
5-Fold CV
6 modelli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Best bacc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221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86C1"/>
                </a:solidFill>
                <a:latin typeface="Calibri"/>
              </a:rPr>
              <a:t>~25%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27432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F8C8D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1097280"/>
            <a:ext cx="1737360" cy="59436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94560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EEG_06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1691640"/>
            <a:ext cx="1737360" cy="3429000"/>
          </a:xfrm>
          <a:prstGeom prst="rect">
            <a:avLst/>
          </a:prstGeom>
          <a:solidFill>
            <a:srgbClr val="F4F7FF"/>
          </a:solidFill>
          <a:ln w="190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21992" y="1783080"/>
            <a:ext cx="15910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A589"/>
                </a:solidFill>
                <a:latin typeface="Calibri"/>
              </a:rPr>
              <a:t>Baseline
Subject-
Specific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1992" y="2514600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Leave-One-
Session-Out
6 modelli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36118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3172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Best bacc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8221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7A589"/>
                </a:solidFill>
                <a:latin typeface="Calibri"/>
              </a:rPr>
              <a:t>~25-26%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4488" y="27432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F8C8D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1097280"/>
            <a:ext cx="173736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0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EEG_08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40" y="1691640"/>
            <a:ext cx="1737360" cy="3429000"/>
          </a:xfrm>
          <a:prstGeom prst="rect">
            <a:avLst/>
          </a:prstGeom>
          <a:solidFill>
            <a:srgbClr val="F4F7F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50792" y="1783080"/>
            <a:ext cx="15910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ChebGCN
Grafo Funz.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0792" y="2514600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PCC/PLV/wPLI
5 metodi × 3 arch
Cross-subj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36118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6052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Best bacc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38221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26.1%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3288" y="27432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F8C8D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1097280"/>
            <a:ext cx="1737360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52160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EEG_09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1691640"/>
            <a:ext cx="1737360" cy="3429000"/>
          </a:xfrm>
          <a:prstGeom prst="rect">
            <a:avLst/>
          </a:prstGeom>
          <a:solidFill>
            <a:srgbClr val="F4F7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79592" y="1783080"/>
            <a:ext cx="15910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E44AD"/>
                </a:solidFill>
                <a:latin typeface="Calibri"/>
              </a:rPr>
              <a:t>GAT +
Adversarial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9592" y="2514600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GRL per
rimuovere
soggetto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6118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8932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Best bacc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38221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Calibri"/>
              </a:rPr>
              <a:t>25.4%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27432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F8C8D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1097280"/>
            <a:ext cx="173736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0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EEG_10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1691640"/>
            <a:ext cx="1737360" cy="3429000"/>
          </a:xfrm>
          <a:prstGeom prst="rect">
            <a:avLst/>
          </a:prstGeom>
          <a:solidFill>
            <a:srgbClr val="F4F7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08392" y="1783080"/>
            <a:ext cx="15910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Advanced
GNN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08392" y="2514600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LGGNet
DiffPool
AT-DGNN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36118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1812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Best bacc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38221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25.9%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888" y="274320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F8C8D"/>
                </a:solidFill>
                <a:latin typeface="Calibr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64040" y="1097280"/>
            <a:ext cx="17373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09760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EEG_11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64040" y="1691640"/>
            <a:ext cx="1737360" cy="3429000"/>
          </a:xfrm>
          <a:prstGeom prst="rect">
            <a:avLst/>
          </a:prstGeom>
          <a:solidFill>
            <a:srgbClr val="F4F7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37192" y="1783080"/>
            <a:ext cx="15910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Hypergraph
HGNN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37192" y="2514600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HGNN_2L
HGNN_DYN
HGNN_ATT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36118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46920" y="3657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Best bacc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20" y="38221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alibri"/>
              </a:rPr>
              <a:t>25.0%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486400"/>
            <a:ext cx="11430000" cy="457200"/>
          </a:xfrm>
          <a:prstGeom prst="rect">
            <a:avLst/>
          </a:prstGeom>
          <a:solidFill>
            <a:srgbClr val="FFF0F0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⚠  Tutti i modelli convergono a chance (25.0%). Nessuna architettura supera il livello caso cross-subject.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EEG_05 / EEG_07 — Baseline Cross-Subject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6 architetture Braindecode, 5-Fold CV, schema concr4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5/15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2860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33856"/>
            <a:ext cx="21945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Modello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18288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1133856"/>
            <a:ext cx="1737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mean test_bacc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097280"/>
            <a:ext cx="13716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133856"/>
            <a:ext cx="1280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std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097280"/>
            <a:ext cx="18288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133856"/>
            <a:ext cx="1737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val_bacc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097280"/>
            <a:ext cx="41148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80" y="1133856"/>
            <a:ext cx="4023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508760"/>
            <a:ext cx="22860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5453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Labram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1508760"/>
            <a:ext cx="1828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15453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508760"/>
            <a:ext cx="13716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15453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±0.0016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1508760"/>
            <a:ext cx="1828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80" y="15453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508760"/>
            <a:ext cx="4114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80" y="15453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Tecnicamente above chance (+0.05%): irrilevante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911095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1947671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ATCNet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1911095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97480" y="194767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1911095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194767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±0.0000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1911095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97880" y="194767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1911095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26680" y="194767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Collasso esatto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313432"/>
            <a:ext cx="22860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23500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Deep4Net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313432"/>
            <a:ext cx="1828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97480" y="23500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2313432"/>
            <a:ext cx="13716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26280" y="23500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±0.0008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2313432"/>
            <a:ext cx="1828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897880" y="23500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0.2547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2313432"/>
            <a:ext cx="4114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26680" y="235000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65760" y="2715768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2752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EEGConformer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2715768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97480" y="27523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2715768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26280" y="27523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±0.0000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2715768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97880" y="27523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2715768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26680" y="275234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Collasso esatto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118104"/>
            <a:ext cx="22860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EEGNet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118104"/>
            <a:ext cx="1828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154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0" y="3118104"/>
            <a:ext cx="13716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26280" y="3154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±0.0002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0" y="3118104"/>
            <a:ext cx="1828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897880" y="3154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0.2521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80960" y="3118104"/>
            <a:ext cx="4114800" cy="402336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26680" y="3154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65760" y="3520440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11480" y="35570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ShallowFBCSPNet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51760" y="3520440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697480" y="35570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0.2499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80560" y="3520440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26280" y="35570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±0.0018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52160" y="3520440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897880" y="35570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0.2581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80960" y="352044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726680" y="355701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val_bacc più alta — overfitting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251960"/>
            <a:ext cx="114300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01200" y="42611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C0392B"/>
                </a:solidFill>
                <a:latin typeface="Calibri"/>
              </a:rPr>
              <a:t>Chance = 25.0%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4348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Diagnosi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0600"/>
            <a:ext cx="54864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" y="4800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Varianza tra fold ≤ 0.0009 → comportamento stabile e sistematico, non casualità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184648"/>
            <a:ext cx="54864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02920" y="51846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val_bacc artificialmente alta (0.25–0.26): classi sbilanciate (ASTRATTO=33%) — la balanced accuracy è la metrica corretta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5568696"/>
            <a:ext cx="54864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02920" y="55686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Class collapse: il modello converge a predire la classe maggioritaria per tutti gli input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952744"/>
            <a:ext cx="54864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02920" y="59527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Conclusione: architetture standard non possono generalizzare cross-soggetto su imagined speech a 4 classi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EEG_06 — Subject-Specific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Leave-One-Session-Out: train sess 1–4, test sess 5. 10 soggetti, concr4.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6/15</a:t>
            </a:r>
          </a:p>
        </p:txBody>
      </p:sp>
      <p:pic>
        <p:nvPicPr>
          <p:cNvPr id="8" name="Picture 7" descr="eeg06_ss_4_norm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" y="1069849"/>
            <a:ext cx="6548846" cy="3438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Risultati e Interpretazione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17320"/>
            <a:ext cx="530352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60020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1600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Mediane ~25%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9019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Tutti i modelli essenzialmente a chance anche subject-specific.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468880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468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ATCNet sotto chance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7706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Architettura sovradimensionata per 330 trial — convergenza problematica.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337560"/>
            <a:ext cx="54864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Deep4Net outlier 34.4%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39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Un soggetto produce bacc=0.344. Il segnale ESISTE per alcuni soggetti, ma non è universale.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206240"/>
            <a:ext cx="54864" cy="6583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4206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8C8D"/>
                </a:solidFill>
                <a:latin typeface="Calibri"/>
              </a:rPr>
              <a:t>Instance Norm applicata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07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Normalizzazione per sottrarre impronta soggetto — non basta.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507492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5074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330 trial = troppo pochi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376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3 sessioni × ~110 trial. Per 4-class EEG noisy servono &gt;1000 trial/soggetto.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6080760"/>
            <a:ext cx="5303520" cy="548640"/>
          </a:xfrm>
          <a:prstGeom prst="rect">
            <a:avLst/>
          </a:prstGeom>
          <a:solidFill>
            <a:srgbClr val="EAF2F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6126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Il problema non è solo cross-subject: anche subject-specific il segnale imagined speech è debole e inconsistente.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EEG_07c/07d — Perché Fallisce: Analisi Strutturale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Prova formale che il grafo PCC non porta informazione semantica cross-subject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7/15</a:t>
            </a:r>
          </a:p>
        </p:txBody>
      </p:sp>
      <p:pic>
        <p:nvPicPr>
          <p:cNvPr id="8" name="Picture 7" descr="eeg07d_subject_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79379"/>
            <a:ext cx="5303520" cy="2486297"/>
          </a:xfrm>
          <a:prstGeom prst="rect">
            <a:avLst/>
          </a:prstGeom>
        </p:spPr>
      </p:pic>
      <p:pic>
        <p:nvPicPr>
          <p:cNvPr id="9" name="Picture 8" descr="eeg07d_laplacian_spectr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339" y="1051559"/>
            <a:ext cx="6204857" cy="23774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Subject Fingerprint (cosine similarity)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09160"/>
            <a:ext cx="16459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47457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20240" y="4709160"/>
            <a:ext cx="16459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60" y="47457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Stessa categoria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4709160"/>
            <a:ext cx="16459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47457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Categoria diversa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56632"/>
            <a:ext cx="1645920" cy="347472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50932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Stesso soggetto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5056632"/>
            <a:ext cx="1645920" cy="347472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50932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0.7851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5056632"/>
            <a:ext cx="1645920" cy="347472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50932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0.8014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40410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544068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Soggetto diverso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540410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65960" y="544068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0.7054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540410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11880" y="544068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0.7094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806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Effetto soggetto: +0.086  |  Effetto categoria: −0.010  →  soggetto domina 8.6×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0716" y="34290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E2761"/>
                </a:solidFill>
                <a:latin typeface="Calibri"/>
              </a:rPr>
              <a:t>Spettro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E2761"/>
                </a:solidFill>
                <a:latin typeface="Calibri"/>
              </a:rPr>
              <a:t>Laplaciano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 per </a:t>
            </a:r>
            <a:r>
              <a:rPr sz="1300" b="1" i="0" dirty="0" err="1">
                <a:solidFill>
                  <a:srgbClr val="1E2761"/>
                </a:solidFill>
                <a:latin typeface="Calibri"/>
              </a:rPr>
              <a:t>categoria</a:t>
            </a:r>
            <a:endParaRPr sz="13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60716" y="379476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Le 4 curve (CONCR/AZIONE/STATO/ASTRATTO) si sovrappongono perfettamente.
Spectral gap identico (~0.15) per tutte le categorie.
Implicazione formale: ChebGCN opera nello spazio spettrale → non può fisicamente discriminare categorie.
Non è un problema di tuning: è strutturale.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EEG_08 — ChebGCN su Grafo Funzionale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5 metodi grafo × 3 architetture, cross-subject, concr4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8/15</a:t>
            </a:r>
          </a:p>
        </p:txBody>
      </p:sp>
      <p:pic>
        <p:nvPicPr>
          <p:cNvPr id="8" name="Picture 7" descr="eeg08_ablation_graph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68580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Best val_bacc per metodo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137160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60920" y="14538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Metodo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17320"/>
            <a:ext cx="182880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145389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Best 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1417320"/>
            <a:ext cx="137160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61320" y="14538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val_bacc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783080"/>
            <a:ext cx="13716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18196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783080"/>
            <a:ext cx="18288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1819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ChebGCN_3L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1783080"/>
            <a:ext cx="13716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61320" y="18196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0.2607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16712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22037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PLV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16712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520" y="22037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ChebGCN_2L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216712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61320" y="22037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551176"/>
            <a:ext cx="13716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60920" y="25877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wPLI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2551176"/>
            <a:ext cx="18288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32520" y="25877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ChebGCN_Skip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2551176"/>
            <a:ext cx="13716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25877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93522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60920" y="29718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Learned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293522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32520" y="2971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ChebGCN_Lea.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293522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61320" y="29718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3319272"/>
            <a:ext cx="13716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60920" y="33558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Dynamic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3319272"/>
            <a:ext cx="18288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32520" y="33558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ChebGCN_Dyn.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0" y="3319272"/>
            <a:ext cx="1371600" cy="38404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61320" y="33558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Osservazioni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425196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24927" y="42519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PCC migliore → ma 26.1% non distinguibile da chance (25%)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4654296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24927" y="4654296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Il modello più semplice (2L) spesso migliore → segnale assenza di segnale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5056632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24927" y="5056632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Class collapse su STATO: il modello predice sempre la stessa classe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5458968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24927" y="5458968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Confusion matrix: colonna STATO piena per tutte le classi reali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074920"/>
            <a:ext cx="6858000" cy="548640"/>
          </a:xfrm>
          <a:prstGeom prst="rect">
            <a:avLst/>
          </a:prstGeom>
          <a:solidFill>
            <a:srgbClr val="F4F7FF"/>
          </a:solidFill>
          <a:ln w="1016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80" y="5120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Architettura: ispirata a GCNs-Net (IEEE TNSRE 2022) — 1D CNN temporal encoder + ChebConv(K=2) + global_mean_pool + MLP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EEG_09 — GAT + Domain Adversarial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Tentativo di rimuovere il segnale soggetto con Gradient Reversal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9/15</a:t>
            </a:r>
          </a:p>
        </p:txBody>
      </p:sp>
      <p:pic>
        <p:nvPicPr>
          <p:cNvPr id="8" name="Picture 7" descr="eeg09_confmat_GAT_2L_AD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04" y="1443446"/>
            <a:ext cx="4197302" cy="2899954"/>
          </a:xfrm>
          <a:prstGeom prst="rect">
            <a:avLst/>
          </a:prstGeom>
        </p:spPr>
      </p:pic>
      <p:pic>
        <p:nvPicPr>
          <p:cNvPr id="9" name="Picture 8" descr="eeg09_gat_results_4c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43446"/>
            <a:ext cx="5418335" cy="28999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4663440"/>
            <a:ext cx="11704320" cy="822960"/>
          </a:xfrm>
          <a:prstGeom prst="rect">
            <a:avLst/>
          </a:prstGeom>
          <a:solidFill>
            <a:srgbClr val="FFEB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SMOKING GUN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709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392B"/>
                </a:solidFill>
                <a:latin typeface="Calibri"/>
              </a:rPr>
              <a:t>L'adversarial training (GAT_2L_ADV) ha rimosso il segnale del soggetto → collasso totale su classe 1 (0.81–0.82 per ogni classe reale). L'unico segnale discriminativo nei grafi EEG è l'identità del soggetto. Senza di essa, il modello non ha nulla da imparare.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178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EEG_10 — Advanced GNN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LGGNet, AT-DGNN, DiffPool — tutti convergono a ln(4) = 1.386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10/15</a:t>
            </a:r>
          </a:p>
        </p:txBody>
      </p:sp>
      <p:pic>
        <p:nvPicPr>
          <p:cNvPr id="8" name="Picture 7" descr="eeg10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6400800" cy="3474720"/>
          </a:xfrm>
          <a:prstGeom prst="rect">
            <a:avLst/>
          </a:prstGeom>
        </p:spPr>
      </p:pic>
      <p:pic>
        <p:nvPicPr>
          <p:cNvPr id="9" name="Picture 8" descr="eeg10_lggnet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882" y="1404692"/>
            <a:ext cx="5241758" cy="28455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663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Risultati (concr4, cross-subject)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029200"/>
            <a:ext cx="201168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50657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Modello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5029200"/>
            <a:ext cx="137160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50657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val_bacc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5029200"/>
            <a:ext cx="457200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506577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94960"/>
            <a:ext cx="201168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54315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ChebGCN (EEG_08)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5394960"/>
            <a:ext cx="137160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31720" y="543153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5394960"/>
            <a:ext cx="457200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543153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Baseline — modello più semplice = migliore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6072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579729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LGGNet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576072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31720" y="57972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5760720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20" y="579729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Loss → ln(4)=1.386 = output uniforme ottimale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126480"/>
            <a:ext cx="201168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61630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AT-DGNN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6126480"/>
            <a:ext cx="137160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31720" y="61630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6126480"/>
            <a:ext cx="457200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03320" y="616305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Attenzione dinamica → nessun vantaggio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4922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65288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DiffPool-GNN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649224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31720" y="65288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0.253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6492240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03320" y="652881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Pooling gerarchico → nessun vantaggio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4663440"/>
            <a:ext cx="3611880" cy="1976846"/>
          </a:xfrm>
          <a:prstGeom prst="rect">
            <a:avLst/>
          </a:prstGeom>
          <a:solidFill>
            <a:srgbClr val="FFF3C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66760" y="4811486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6B35"/>
                </a:solidFill>
                <a:latin typeface="Calibri"/>
              </a:rPr>
              <a:t>Loss = ln(4) = 1.386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222966"/>
            <a:ext cx="3505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Il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minimo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teorico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di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CrossEntropy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per output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uniforme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su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4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classi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è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ln(4).
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LGGNet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converge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esattamente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a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questo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valore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.
Il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modello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ha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trovato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soluzione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ottima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per un task senza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segnale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:
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predire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con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probabilità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uniforme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25% per ogni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classe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61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EEG_11 — Hypergraph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Contributo principale della tesi: relazioni multi-elettrodo con iperspigoli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8305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75756" y="68728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7F8C8D"/>
                </a:solidFill>
                <a:latin typeface="Calibri"/>
              </a:rPr>
              <a:t>11/15</a:t>
            </a:r>
          </a:p>
        </p:txBody>
      </p:sp>
      <p:pic>
        <p:nvPicPr>
          <p:cNvPr id="8" name="Picture 7" descr="eeg10_hyperedge_topo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541" y="1016033"/>
            <a:ext cx="5732438" cy="46601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43459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E2761"/>
                </a:solidFill>
                <a:latin typeface="Calibri"/>
              </a:rPr>
              <a:t>3 </a:t>
            </a:r>
            <a:r>
              <a:rPr sz="1300" b="1" i="0" dirty="0" err="1">
                <a:solidFill>
                  <a:srgbClr val="1E2761"/>
                </a:solidFill>
                <a:latin typeface="Calibri"/>
              </a:rPr>
              <a:t>Architetture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 HGNN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792724"/>
            <a:ext cx="36576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583844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HGNN_2L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316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Iperspigoli statici (Feng et al. 2019)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22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7F8C8D"/>
                </a:solidFill>
                <a:latin typeface="Calibri"/>
              </a:rPr>
              <a:t>HGNN classico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5792724"/>
            <a:ext cx="365760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583844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HGNN_2L_DYN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2316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Layer 2 dinamico (ispirazione Li et al.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5333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F8C8D"/>
                </a:solidFill>
                <a:latin typeface="Calibri"/>
              </a:rPr>
              <a:t>Iperspigoli ricalcolati per trial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5792724"/>
            <a:ext cx="36576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583844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HGNN_ATT_2L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2316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Attention sugli iperspigoli (AllSet, Chien et al.)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5333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F8C8D"/>
                </a:solidFill>
                <a:latin typeface="Calibri"/>
              </a:rPr>
              <a:t>Aggregazione pesata per importanza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493E2-F8F9-EDBA-8720-8FE54895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7AA4C1-718B-A7D5-3D4E-1EDC1884301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2527E9-6741-3C46-2210-05B90C800553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5DC3F-04D7-4EFB-B4C0-0D29A8EF181B}"/>
              </a:ext>
            </a:extLst>
          </p:cNvPr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EEG_11 — Hypergraph Neural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BCE13-5EB0-63BB-C4AD-8698E982A915}"/>
              </a:ext>
            </a:extLst>
          </p:cNvPr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Contributo principale della tesi: relazioni multi-elettrodo con iperspigoli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92696-0911-EEF9-62F2-0AAD7C7AA96C}"/>
              </a:ext>
            </a:extLst>
          </p:cNvPr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790F2-9DFE-68BA-EB91-B495B544A4C1}"/>
              </a:ext>
            </a:extLst>
          </p:cNvPr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11/15</a:t>
            </a:r>
          </a:p>
        </p:txBody>
      </p:sp>
      <p:pic>
        <p:nvPicPr>
          <p:cNvPr id="9" name="Picture 8" descr="eeg10_graph_vs_hypergraph.png">
            <a:extLst>
              <a:ext uri="{FF2B5EF4-FFF2-40B4-BE49-F238E27FC236}">
                <a16:creationId xmlns:a16="http://schemas.microsoft.com/office/drawing/2014/main" id="{ED4B16A7-6156-921C-D04A-828DC5E9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040162"/>
            <a:ext cx="9692640" cy="436851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168B8AD-AC9B-5D9D-BE2F-D16DFBA840B4}"/>
              </a:ext>
            </a:extLst>
          </p:cNvPr>
          <p:cNvSpPr/>
          <p:nvPr/>
        </p:nvSpPr>
        <p:spPr>
          <a:xfrm>
            <a:off x="3749040" y="5513832"/>
            <a:ext cx="1828800" cy="32004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AC02DB-5A74-CE06-65AD-6E6165783104}"/>
              </a:ext>
            </a:extLst>
          </p:cNvPr>
          <p:cNvSpPr txBox="1"/>
          <p:nvPr/>
        </p:nvSpPr>
        <p:spPr>
          <a:xfrm>
            <a:off x="3794760" y="5550408"/>
            <a:ext cx="1737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Modello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37D66-2F20-FA1C-8BCC-096FF61D8233}"/>
              </a:ext>
            </a:extLst>
          </p:cNvPr>
          <p:cNvSpPr/>
          <p:nvPr/>
        </p:nvSpPr>
        <p:spPr>
          <a:xfrm>
            <a:off x="5577840" y="5513832"/>
            <a:ext cx="1188720" cy="32004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233270-6444-CA51-8FBB-D44F8BDE18EC}"/>
              </a:ext>
            </a:extLst>
          </p:cNvPr>
          <p:cNvSpPr txBox="1"/>
          <p:nvPr/>
        </p:nvSpPr>
        <p:spPr>
          <a:xfrm>
            <a:off x="5623560" y="555040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test_bacc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0A7E84-EC85-4017-C13F-CABF8FB617FF}"/>
              </a:ext>
            </a:extLst>
          </p:cNvPr>
          <p:cNvSpPr/>
          <p:nvPr/>
        </p:nvSpPr>
        <p:spPr>
          <a:xfrm>
            <a:off x="6766560" y="5513832"/>
            <a:ext cx="2286000" cy="32004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6967F7-57E9-4E43-155B-F41FE8B04B2A}"/>
              </a:ext>
            </a:extLst>
          </p:cNvPr>
          <p:cNvSpPr txBox="1"/>
          <p:nvPr/>
        </p:nvSpPr>
        <p:spPr>
          <a:xfrm>
            <a:off x="6812280" y="555040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E1B6D-C55B-766C-1E3C-E63ACCD14264}"/>
              </a:ext>
            </a:extLst>
          </p:cNvPr>
          <p:cNvSpPr/>
          <p:nvPr/>
        </p:nvSpPr>
        <p:spPr>
          <a:xfrm>
            <a:off x="3749040" y="5833872"/>
            <a:ext cx="1828800" cy="32004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7AD88A-FFD8-5BDC-A0FB-9E6A846DA91E}"/>
              </a:ext>
            </a:extLst>
          </p:cNvPr>
          <p:cNvSpPr txBox="1"/>
          <p:nvPr/>
        </p:nvSpPr>
        <p:spPr>
          <a:xfrm>
            <a:off x="3794760" y="5870448"/>
            <a:ext cx="1737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HGNN_2L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7D113D-23F5-BB55-85BB-303C6CC3CA5D}"/>
              </a:ext>
            </a:extLst>
          </p:cNvPr>
          <p:cNvSpPr/>
          <p:nvPr/>
        </p:nvSpPr>
        <p:spPr>
          <a:xfrm>
            <a:off x="5577840" y="5833872"/>
            <a:ext cx="1188720" cy="32004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26A17A-69EB-B7B8-80EC-96560DFE45F6}"/>
              </a:ext>
            </a:extLst>
          </p:cNvPr>
          <p:cNvSpPr txBox="1"/>
          <p:nvPr/>
        </p:nvSpPr>
        <p:spPr>
          <a:xfrm>
            <a:off x="5623560" y="587044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0.250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CCCFA5-883A-20B4-2885-08473F7BCFE0}"/>
              </a:ext>
            </a:extLst>
          </p:cNvPr>
          <p:cNvSpPr/>
          <p:nvPr/>
        </p:nvSpPr>
        <p:spPr>
          <a:xfrm>
            <a:off x="6766560" y="5833872"/>
            <a:ext cx="2286000" cy="32004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7748BC-6AAE-18D4-DA5F-E784AA96D6B0}"/>
              </a:ext>
            </a:extLst>
          </p:cNvPr>
          <p:cNvSpPr txBox="1"/>
          <p:nvPr/>
        </p:nvSpPr>
        <p:spPr>
          <a:xfrm>
            <a:off x="6812280" y="5870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Split classi 1+2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F796FB-A5BE-6AF5-7E58-311922F86A7F}"/>
              </a:ext>
            </a:extLst>
          </p:cNvPr>
          <p:cNvSpPr/>
          <p:nvPr/>
        </p:nvSpPr>
        <p:spPr>
          <a:xfrm>
            <a:off x="3749040" y="6153911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518097-3983-FE9C-C956-F22B49A19A71}"/>
              </a:ext>
            </a:extLst>
          </p:cNvPr>
          <p:cNvSpPr txBox="1"/>
          <p:nvPr/>
        </p:nvSpPr>
        <p:spPr>
          <a:xfrm>
            <a:off x="3794760" y="6190487"/>
            <a:ext cx="1737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HGNN_DYN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8D2095-21F1-5A99-0C56-506E8C41CA73}"/>
              </a:ext>
            </a:extLst>
          </p:cNvPr>
          <p:cNvSpPr/>
          <p:nvPr/>
        </p:nvSpPr>
        <p:spPr>
          <a:xfrm>
            <a:off x="5577840" y="6153911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392F0D-9664-EFD8-5D23-0C2E6BB380C7}"/>
              </a:ext>
            </a:extLst>
          </p:cNvPr>
          <p:cNvSpPr txBox="1"/>
          <p:nvPr/>
        </p:nvSpPr>
        <p:spPr>
          <a:xfrm>
            <a:off x="5623560" y="6190487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0.247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36E1AE-5AFA-A1EA-25CF-E6870D7C0A3B}"/>
              </a:ext>
            </a:extLst>
          </p:cNvPr>
          <p:cNvSpPr/>
          <p:nvPr/>
        </p:nvSpPr>
        <p:spPr>
          <a:xfrm>
            <a:off x="6766560" y="6153911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52CC31-9B2A-0D43-79E9-E5BB8C556E73}"/>
              </a:ext>
            </a:extLst>
          </p:cNvPr>
          <p:cNvSpPr txBox="1"/>
          <p:nvPr/>
        </p:nvSpPr>
        <p:spPr>
          <a:xfrm>
            <a:off x="6812280" y="6190487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Collasso su classe 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97CF29-8B32-5FFC-6458-02CCDE3322F9}"/>
              </a:ext>
            </a:extLst>
          </p:cNvPr>
          <p:cNvSpPr/>
          <p:nvPr/>
        </p:nvSpPr>
        <p:spPr>
          <a:xfrm>
            <a:off x="3749040" y="6473952"/>
            <a:ext cx="1828800" cy="32004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E577AE-9B9A-39F7-3D5A-79585AE23443}"/>
              </a:ext>
            </a:extLst>
          </p:cNvPr>
          <p:cNvSpPr txBox="1"/>
          <p:nvPr/>
        </p:nvSpPr>
        <p:spPr>
          <a:xfrm>
            <a:off x="3794760" y="6510528"/>
            <a:ext cx="1737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HGNN_ATT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58B325-434D-6F79-E3E9-599DC7FC99BD}"/>
              </a:ext>
            </a:extLst>
          </p:cNvPr>
          <p:cNvSpPr/>
          <p:nvPr/>
        </p:nvSpPr>
        <p:spPr>
          <a:xfrm>
            <a:off x="5577840" y="6473952"/>
            <a:ext cx="1188720" cy="32004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587E8F-233D-F711-5011-5A15359AE6EF}"/>
              </a:ext>
            </a:extLst>
          </p:cNvPr>
          <p:cNvSpPr txBox="1"/>
          <p:nvPr/>
        </p:nvSpPr>
        <p:spPr>
          <a:xfrm>
            <a:off x="5623560" y="651052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0.250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BD64C6-5A3F-D3C1-3DA7-DE4DBB535666}"/>
              </a:ext>
            </a:extLst>
          </p:cNvPr>
          <p:cNvSpPr/>
          <p:nvPr/>
        </p:nvSpPr>
        <p:spPr>
          <a:xfrm>
            <a:off x="6766560" y="6473952"/>
            <a:ext cx="2286000" cy="32004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D8A323-AE96-444D-5706-7575F70D3D5F}"/>
              </a:ext>
            </a:extLst>
          </p:cNvPr>
          <p:cNvSpPr txBox="1"/>
          <p:nvPr/>
        </p:nvSpPr>
        <p:spPr>
          <a:xfrm>
            <a:off x="6812280" y="651052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Collasso su classe 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C3EC5D3-EAB3-D4C6-C972-286C8CCAD423}"/>
              </a:ext>
            </a:extLst>
          </p:cNvPr>
          <p:cNvSpPr/>
          <p:nvPr/>
        </p:nvSpPr>
        <p:spPr>
          <a:xfrm>
            <a:off x="8961120" y="5532120"/>
            <a:ext cx="54864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35723D-68F3-D782-586E-7E1AA966B106}"/>
              </a:ext>
            </a:extLst>
          </p:cNvPr>
          <p:cNvSpPr/>
          <p:nvPr/>
        </p:nvSpPr>
        <p:spPr>
          <a:xfrm>
            <a:off x="8961120" y="5879591"/>
            <a:ext cx="54864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CEEEBC-140E-7088-6E4A-809ABE035096}"/>
              </a:ext>
            </a:extLst>
          </p:cNvPr>
          <p:cNvSpPr/>
          <p:nvPr/>
        </p:nvSpPr>
        <p:spPr>
          <a:xfrm>
            <a:off x="8961120" y="6227063"/>
            <a:ext cx="54864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70332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Quadro Complessivo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Tutti gli esperimenti: cross-subject e subject-specific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12/15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8872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33856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Notebook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097280"/>
            <a:ext cx="18288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1133856"/>
            <a:ext cx="1737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Famiglia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2860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133856"/>
            <a:ext cx="21945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Modelli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097280"/>
            <a:ext cx="201168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60" y="113385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097280"/>
            <a:ext cx="13716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1133856"/>
            <a:ext cx="1280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Best bacc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097280"/>
            <a:ext cx="320040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1133856"/>
            <a:ext cx="3108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Vs Chance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508760"/>
            <a:ext cx="118872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154533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EEG_05/07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1508760"/>
            <a:ext cx="18288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154533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Braindecode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1508760"/>
            <a:ext cx="22860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37560" y="1545336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EEGNet, Deep4Net, EEGConformer, Labram...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1508760"/>
            <a:ext cx="201168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23560" y="154533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Cross-subj 5-fold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1508760"/>
            <a:ext cx="13716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154533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25.1%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508760"/>
            <a:ext cx="32004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6840" y="154533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≈ Chance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98424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2020824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EEG_06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1984248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08760" y="202082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Braindecode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198424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37560" y="202082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EEGNet, Deep4Net, EEGConformer, ATCNet...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1984248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23560" y="202082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Subject-specific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198424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202082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~26%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1984248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06840" y="202082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≈ Chance (1 outlier 34.4%)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459736"/>
            <a:ext cx="118872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249631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EEG_08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63040" y="2459736"/>
            <a:ext cx="18288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08760" y="249631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ChebGCN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2459736"/>
            <a:ext cx="22860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37560" y="249631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2L, 3L, Skip × 5 metodi grafo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2459736"/>
            <a:ext cx="201168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23560" y="249631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Cross-subj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2459736"/>
            <a:ext cx="13716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35240" y="249631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26.1%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2459736"/>
            <a:ext cx="32004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06840" y="249631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+1.1% (non sign.)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935224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0040" y="297180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EEG_09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63040" y="2935224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508760" y="297180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GAT + Adversar.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0" y="293522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37560" y="29718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GAT_2L, GAT_2L_ADV, GAT_3L_ADV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2935224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23560" y="297180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Cross-subj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2935224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35240" y="297180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25.4%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2935224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006840" y="297180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≈ Chance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410712"/>
            <a:ext cx="118872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20040" y="344728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EEG_10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63040" y="3410712"/>
            <a:ext cx="18288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508760" y="344728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Advanced GNN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91840" y="3410712"/>
            <a:ext cx="22860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337560" y="344728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LGGNet, AT-DGNN, DiffPool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77840" y="3410712"/>
            <a:ext cx="201168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23560" y="344728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Cross-subj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89520" y="3410712"/>
            <a:ext cx="13716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635240" y="34472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25.9%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61120" y="3410712"/>
            <a:ext cx="32004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006840" y="344728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≈ Chance (loss=ln4)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886200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20040" y="392277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EEG_11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63040" y="3886200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508760" y="392277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HGNN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91840" y="388620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337560" y="3922776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HGNN_2L, HGNN_DYN, HGNN_ATT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577840" y="388620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623560" y="392277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Cross-subj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89520" y="3886200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635240" y="392277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25.0%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61120" y="3886200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06840" y="392277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Calibri"/>
              </a:rPr>
              <a:t>= Chance esatto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4320" y="4572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Confronto con SOTA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4919472"/>
            <a:ext cx="11430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74320" y="5029200"/>
            <a:ext cx="54864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1148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Li et al. 2025 (DHSLP) — TARGET: 78% su imagined speech subject-specific (dataset diverso, setting controllato)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5431536"/>
            <a:ext cx="54864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11480" y="543153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FAST 2025 (Jiang et al.) — 57 soggetti, 5 classi, strict LOSO: 26.9% (+6.9% su chance 20%): il problema è aperto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5833872"/>
            <a:ext cx="54864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58338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Bomatter et al. 2025 — cross-subject EEG richiede &gt;200 soggetti per generalizzare: noi ne abbiamo 70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6236208"/>
            <a:ext cx="54864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11480" y="62362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Einizade et al. 2022 (GraphIS) — punto di partenza GCN per imagined speech: risultati in setting meno strict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Diagnosi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4 prove convergenti del fallimento cross-subject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13/15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64008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43000"/>
            <a:ext cx="10789920" cy="1005840"/>
          </a:xfrm>
          <a:prstGeom prst="rect">
            <a:avLst/>
          </a:prstGeom>
          <a:solidFill>
            <a:srgbClr val="F4F7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2161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EEG_07c — Analisi esplorativa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6362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F-score ANOVA degli edge vicino a 1 per tutte le categorie. t-SNE mostra cluster per SOGGETTO, non per parola. Intra ≈ inter distanza per categoria.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64008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651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423160"/>
            <a:ext cx="10789920" cy="1005840"/>
          </a:xfrm>
          <a:prstGeom prst="rect">
            <a:avLst/>
          </a:prstGeom>
          <a:solidFill>
            <a:srgbClr val="F4F7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24963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EEG_07d — Subject fingerprint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437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Cosine similarity: soggetto domina categoria 8.6×. Spettro Laplaciano identico per tutte le categorie → ChebGCN/HGNN non possono discriminare per definizione matematica.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64008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703320"/>
            <a:ext cx="10789920" cy="1005840"/>
          </a:xfrm>
          <a:prstGeom prst="rect">
            <a:avLst/>
          </a:prstGeom>
          <a:solidFill>
            <a:srgbClr val="F4F7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776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EEG_09 — Smoking gun adversarial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239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Rimuovendo il segnale del soggetto con GRL, il modello collassa a 0.25. L'unico segnale discriminativo era l'identità del soggetto, non la parola immaginata.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79"/>
            <a:ext cx="64008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52120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983479"/>
            <a:ext cx="10789920" cy="1005840"/>
          </a:xfrm>
          <a:prstGeom prst="rect">
            <a:avLst/>
          </a:prstGeom>
          <a:solidFill>
            <a:srgbClr val="F4F7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05663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EEG_08/10/11 — Convergenza a ln(4)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404103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Tutte le architetture (ChebGCN, LGGNet, AT-DGNN, DiffPool, HGNN) convergono a loss=ln(4)=1.386. Il modello trova la soluzione ottima per un task senza segnale: output uniforme.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172200"/>
            <a:ext cx="1161288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Conclusione: il fallimento cross-subject è sistematico, strutturale e confermato da 4 assi indipendenti. Non è risolvibile con tuning.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Prossimo Passo: Meta-Learning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Learning to learn — adattamento rapido a nuovo soggetto con pochi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14/15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Perché Meta-Learning?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99032"/>
            <a:ext cx="530352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303520" cy="685800"/>
          </a:xfrm>
          <a:prstGeom prst="rect">
            <a:avLst/>
          </a:prstGeom>
          <a:solidFill>
            <a:srgbClr val="FFEB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 Cross-subject puro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Fallisce: ε²=0.85, ogni soggetto = dominio separato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5303520" cy="685800"/>
          </a:xfrm>
          <a:prstGeom prst="rect">
            <a:avLst/>
          </a:prstGeom>
          <a:solidFill>
            <a:srgbClr val="FFEB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 Subject-specific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Fallisce: 330 trial sono pochi per adattarsi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39"/>
            <a:ext cx="5303520" cy="685800"/>
          </a:xfrm>
          <a:prstGeom prst="rect">
            <a:avLst/>
          </a:prstGeom>
          <a:solidFill>
            <a:srgbClr val="FFEB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 Domain adversarial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Fallisce: rimuovere soggetto = rimuovere tutto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79"/>
            <a:ext cx="5303520" cy="685800"/>
          </a:xfrm>
          <a:prstGeom prst="rect">
            <a:avLst/>
          </a:prstGeom>
          <a:solidFill>
            <a:srgbClr val="EAF7E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✓ Meta-learning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Soluzione: impara a adattarsi con K trial per soggetto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05156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Come funziona (Prototypical Networks)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399032"/>
            <a:ext cx="58521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35040" y="1554480"/>
            <a:ext cx="13716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53328" y="1828800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Meta-train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1554480"/>
            <a:ext cx="4480560" cy="1005840"/>
          </a:xfrm>
          <a:prstGeom prst="rect">
            <a:avLst/>
          </a:prstGeom>
          <a:solidFill>
            <a:srgbClr val="F4F7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79" y="1664208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60 soggetti. Per ogni episodio: scegli soggetto i, K support trial per classe, Q query trial. Impara embedding che classifica per distanza dal prototipo.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834639"/>
            <a:ext cx="137160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3328" y="3108959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Meta-test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834639"/>
            <a:ext cx="4480560" cy="1005840"/>
          </a:xfrm>
          <a:prstGeom prst="rect">
            <a:avLst/>
          </a:prstGeom>
          <a:solidFill>
            <a:srgbClr val="F4F7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2944367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10 soggetti MAI visti. Dai K=5 trial per classe → calcola prototipi → classifica query. Nessun gradient step aggiuntivo.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114800"/>
            <a:ext cx="13716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53328" y="4389120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Vantaggio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114800"/>
            <a:ext cx="4480560" cy="1005840"/>
          </a:xfrm>
          <a:prstGeom prst="rect">
            <a:avLst/>
          </a:prstGeom>
          <a:solidFill>
            <a:srgbClr val="F4F7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79" y="4224528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Sfrutta i 70 soggetti come 'compiti diversi'. Impara struttura comune tra soggetti, non memorizza identità.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49240"/>
            <a:ext cx="11612880" cy="5029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39496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Piano: EEG_12 Meta-Learning — EEGNet encoder + Prototypical Networks, split 60/10 soggetti, episodic dataloader. Stima: 1-2 settimane.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Roadmap e 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Stato attuale, prossimi passi, domanda di ricerca aperta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Daniele Uras — Politecnico di Milano, DEIB —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15/15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Completato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99032"/>
            <a:ext cx="530352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Pipeline dati completa (59 ch, 70 soggetti, ~38k trial)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38528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385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Baseline cross-subject: 6 modelli Braindecode (EEG_05/07)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68296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36829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Baseline subject-specific con Leave-One-Session-Out (EEG_06)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98063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79806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Analisi esplorativa grafo: ANOVA, t-SNE, fingerprint, Laplaciano (EEG_07c/07d)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27832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227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ChebGCN su 5 metodi grafo (PCC/PLV/wPLI/learned/dynamic) (EEG_08)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599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65759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GAT + Domain Adversarial Training (EEG_09)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87368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0873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LGGNet, AT-DGNN, DiffPool-GNN (EEG_10)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17136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5171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Hypergraph Neural Networks: HGNN_2L, DYN, ATT (EEG_11)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46904"/>
            <a:ext cx="5486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9469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Diagnosi strutturale: 4 prove convergenti del fallimento cross-subject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05156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Prossimi Passi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399032"/>
            <a:ext cx="58521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35040" y="1554480"/>
            <a:ext cx="1188720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53328" y="1801368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IMMEDIATO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1554480"/>
            <a:ext cx="4663440" cy="868680"/>
          </a:xfrm>
          <a:prstGeom prst="rect">
            <a:avLst/>
          </a:prstGeom>
          <a:solidFill>
            <a:srgbClr val="F4F7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0" y="164592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EEG_12 — Meta-Learning (Prototypical Networks)
Encoder EEGNet + few-shot su 10 soggetti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651760"/>
            <a:ext cx="118872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53328" y="2898648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BREVE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651760"/>
            <a:ext cx="4663440" cy="868680"/>
          </a:xfrm>
          <a:prstGeom prst="rect">
            <a:avLst/>
          </a:prstGeom>
          <a:solidFill>
            <a:srgbClr val="F4F7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274320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Analisi completa EEG_06 su tutti i 70 soggetti
(attualmente su 10 — identificare soggetti 'buoni')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749039"/>
            <a:ext cx="118872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53328" y="3995927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BREVE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749039"/>
            <a:ext cx="4663440" cy="868680"/>
          </a:xfrm>
          <a:prstGeom prst="rect">
            <a:avLst/>
          </a:prstGeom>
          <a:solidFill>
            <a:srgbClr val="F4F7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0" y="3840479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Ablation study: HGNN vs GNN su subject-specific
(replicare EEG_08/11 in setting subject-specific)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846320"/>
            <a:ext cx="1188720" cy="868680"/>
          </a:xfrm>
          <a:prstGeom prst="rect">
            <a:avLst/>
          </a:prstGeom>
          <a:solidFill>
            <a:srgbClr val="6C3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53328" y="5093208"/>
            <a:ext cx="1152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SCRITTURA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4846320"/>
            <a:ext cx="4663440" cy="868680"/>
          </a:xfrm>
          <a:prstGeom prst="rect">
            <a:avLst/>
          </a:prstGeom>
          <a:solidFill>
            <a:srgbClr val="F4F7FF"/>
          </a:solidFill>
          <a:ln w="12700">
            <a:solidFill>
              <a:srgbClr val="6C3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0" y="493776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Capitoli tesi: Metodologia HGNN, Esperimenti,
Diagnosi strutturale, Meta-learning come futuro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080760"/>
            <a:ext cx="11612880" cy="6217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612648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Domanda aperta: il meta-learning con Prototypical Networks riesce a superare il bottleneck ε²=0.85 adattandosi con K trial per soggetto, dove gli approcci cross-subject e subject-specific hanno fallito?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3808</Words>
  <Application>Microsoft Macintosh PowerPoint</Application>
  <PresentationFormat>Widescreen</PresentationFormat>
  <Paragraphs>442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Daniele Uras</cp:lastModifiedBy>
  <cp:revision>5</cp:revision>
  <dcterms:created xsi:type="dcterms:W3CDTF">2013-01-27T09:14:16Z</dcterms:created>
  <dcterms:modified xsi:type="dcterms:W3CDTF">2026-04-18T17:32:06Z</dcterms:modified>
  <cp:category/>
</cp:coreProperties>
</file>