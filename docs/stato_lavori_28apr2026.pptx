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502920"/>
            <a:ext cx="2286000" cy="36576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28 APRILE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024128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dei Lavori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→ Graph Dataset  ·  Analisi Post-Hoc  ·  Ablation GNN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7772400" cy="27432"/>
          </a:xfrm>
          <a:prstGeom prst="rect">
            <a:avLst/>
          </a:prstGeom>
          <a:solidFill>
            <a:srgbClr val="005F65"/>
          </a:solidFill>
          <a:ln w="12700">
            <a:solidFill>
              <a:srgbClr val="005F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Daniele Uras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</a:rPr>
              <a:t>Politecnico di Milano — DEIB  |  Tesi Magistrale 2025–2026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6393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</a:rPr>
              <a:t>Relatore: Francesco Trovò  |  Track: GNN / Hypergraph Neural Networks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297680"/>
            <a:ext cx="7772400" cy="502920"/>
          </a:xfrm>
          <a:prstGeom prst="rect">
            <a:avLst/>
          </a:prstGeom>
          <a:solidFill>
            <a:srgbClr val="0D2535"/>
          </a:solidFill>
          <a:ln w="6350">
            <a:solidFill>
              <a:srgbClr val="1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251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CC"/>
                </a:solidFill>
              </a:rPr>
              <a:t>Obiettivo: Replicare DHSLP/DHSLF (Li et al. 2025) — ~78% accuracy su imagined speech con hypergraph dinamico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8A8E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Settimana 26–28 Aprile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64008" cy="7315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97840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005840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EEG_07f — Dataset 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289304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38.883 trial × 5 metriche × raw/pruned → ~777.660 file .pt. Shape: x=(61,384), adj=(61,61), H=(61,61).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14500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14500"/>
            <a:ext cx="64008" cy="7315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602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178765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EEG_07f — Analisi Post-Hoc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071116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3 celle: metriche topologiche (violin+Mann-Whitney), mean adjacency per cluster, edge frequency map su scalpo con LineCollection.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96312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96312"/>
            <a:ext cx="64008" cy="7315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54203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78992" y="256946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EEG_07f — Brain sLORETA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852928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Grado connettività per-elettrodo proiettato in sorgente corticale via sLORETA (fsaverage). Vista dorsale con overlay Desikan-Killiany.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78124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78124"/>
            <a:ext cx="64008" cy="7315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32384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78992" y="3351276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EEG_08 — Ablation 10×3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634740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10 graph types × 3 modelli (GCN/GAT/DANN). Tutti ~25% bAcc (chance). Tutte le run loggate su W&amp;B gruppo 'graphs'.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59936"/>
            <a:ext cx="8321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59936"/>
            <a:ext cx="64008" cy="73152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1056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78992" y="4133088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Zero-Leakage Verificato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416552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Normalizzazione per-trial, split subject-level, graph classification on-the-fly nel get(). Nessun data leakage confermato.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F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Grafi: 38.883 Trial × 20 Configurazioni</a:t>
            </a:r>
            <a:endParaRPr lang="en-US" sz="2200" dirty="0"/>
          </a:p>
        </p:txBody>
      </p:sp>
      <p:pic>
        <p:nvPicPr>
          <p:cNvPr id="4" name="Image 0" descr="/Users/danieleuras/Documents/GitHub/miralis-hypergraph-imagined-speech/.claude/worktrees/elegant-neumann/figures/eeg07f_viz_P000_S001_acq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3472205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663440"/>
            <a:ext cx="34722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Grafi e ipergrafi — trial 'acqua', P000_S001 — 5 metriche × 4 varianti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066565" y="841248"/>
            <a:ext cx="471167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66565" y="841248"/>
            <a:ext cx="54864" cy="566928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94581" y="886968"/>
            <a:ext cx="45470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A0"/>
                </a:solidFill>
              </a:rPr>
              <a:t>5 Metriche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94581" y="1115568"/>
            <a:ext cx="4547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PCC · |PCC| · Im-PCC · wPLI · PLV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66565" y="1499616"/>
            <a:ext cx="471167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66565" y="1499616"/>
            <a:ext cx="54864" cy="566928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94581" y="1545336"/>
            <a:ext cx="45470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A0"/>
                </a:solidFill>
              </a:rPr>
              <a:t>2 Varianti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94581" y="1773936"/>
            <a:ext cx="4547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raw / consensus-pruned  (≥2/4 metriche)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66565" y="2157984"/>
            <a:ext cx="471167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66565" y="2157984"/>
            <a:ext cx="54864" cy="566928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94581" y="2203704"/>
            <a:ext cx="45470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A0"/>
                </a:solidFill>
              </a:rPr>
              <a:t>4 Output/trial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94581" y="2432304"/>
            <a:ext cx="4547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grafo raw · grafo pruned · HG raw · HG pruned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66565" y="2816352"/>
            <a:ext cx="471167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66565" y="2816352"/>
            <a:ext cx="54864" cy="566928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94581" y="2862072"/>
            <a:ext cx="45470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A0"/>
                </a:solidFill>
              </a:rPr>
              <a:t>Shape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94581" y="3090672"/>
            <a:ext cx="4547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x=(61, 384)  ·  adj=(61,61)  ·  H=(61,61)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066565" y="3474720"/>
            <a:ext cx="4711675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066565" y="3474720"/>
            <a:ext cx="54864" cy="566928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94581" y="3520440"/>
            <a:ext cx="45470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A0"/>
                </a:solidFill>
              </a:rPr>
              <a:t>Split sogg.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194581" y="3749040"/>
            <a:ext cx="4547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Train 0–49  ·  Val 50–59  ·  Test 60–73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066565" y="4160520"/>
            <a:ext cx="4711675" cy="384048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66565" y="4160520"/>
            <a:ext cx="47116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file .pt per trial — GRAPH CLASSIFICATION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F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Connettività EEG su Scalpo — Topomap per Metrica</a:t>
            </a:r>
            <a:endParaRPr lang="en-US" sz="2200" dirty="0"/>
          </a:p>
        </p:txBody>
      </p:sp>
      <p:pic>
        <p:nvPicPr>
          <p:cNvPr id="4" name="Image 0" descr="/Users/danieleuras/Documents/GitHub/miralis-hypergraph-imagined-speech/.claude/worktrees/elegant-neumann/figures/topomap_P000_acq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3500323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3500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P000 — 'acqua' — grado pesato normalizzato per canale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094683" y="822960"/>
            <a:ext cx="4683557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94683" y="822960"/>
            <a:ext cx="54864" cy="77724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22699" y="886968"/>
            <a:ext cx="45189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A0"/>
                </a:solidFill>
              </a:rPr>
              <a:t>|PCC| e PLV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22699" y="1161288"/>
            <a:ext cx="45189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Forte connettività frontale-parietale. Elettrodi F3/F4/P3/P4 dominanti.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94683" y="1737360"/>
            <a:ext cx="4683557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94683" y="1737360"/>
            <a:ext cx="54864" cy="777240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22699" y="1801368"/>
            <a:ext cx="45189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7D8"/>
                </a:solidFill>
              </a:rPr>
              <a:t>wPLI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22699" y="2075688"/>
            <a:ext cx="45189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Connettività asimmetrica — predominanza emisferica sinistra.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94683" y="2651760"/>
            <a:ext cx="4683557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94683" y="2651760"/>
            <a:ext cx="54864" cy="7772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22699" y="2715768"/>
            <a:ext cx="45189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9E2E"/>
                </a:solidFill>
              </a:rPr>
              <a:t>Im-PCC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22699" y="2990088"/>
            <a:ext cx="45189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Componente immaginaria: insensibile al volume conduction. Pattern diverso da PCC.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94683" y="3566160"/>
            <a:ext cx="4683557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94683" y="3566160"/>
            <a:ext cx="54864" cy="7772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22699" y="3630168"/>
            <a:ext cx="45189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</a:rPr>
              <a:t>Grafo pruned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222699" y="3904488"/>
            <a:ext cx="45189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Consensus ≥2/4 metriche filtra il 70% degli archi raw — mantiene solo i più robustamente connessi.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F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Post-Hoc — EEG_07f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32688"/>
            <a:ext cx="2816352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32688"/>
            <a:ext cx="2816352" cy="5303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32688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CELL 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Metriche Topologiche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per Cluster Semantico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157984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Grado medio, densità, clustering, avg path length, modularità (Louvain) su tutti i trial di P000_S001. Violin plots + test Mann-Whitney per ogni coppia di cluster semantico (concr4).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4443984"/>
            <a:ext cx="2560320" cy="310896"/>
          </a:xfrm>
          <a:prstGeom prst="rect">
            <a:avLst/>
          </a:prstGeom>
          <a:solidFill>
            <a:srgbClr val="E6F6F7"/>
          </a:solidFill>
          <a:ln w="6350">
            <a:solidFill>
              <a:srgbClr val="B2E2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443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5F65"/>
                </a:solidFill>
              </a:rPr>
              <a:t>networkx · python-louvain · statannotations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63824" y="932688"/>
            <a:ext cx="2816352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932688"/>
            <a:ext cx="2816352" cy="530352"/>
          </a:xfrm>
          <a:prstGeom prst="rect">
            <a:avLst/>
          </a:prstGeom>
          <a:solidFill>
            <a:srgbClr val="0056A3"/>
          </a:solidFill>
          <a:ln w="12700">
            <a:solidFill>
              <a:srgbClr val="005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932688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CELL 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Mean Adjacency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per Cluster + Diff Pairwise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157984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Adj media per cluster (4 heatmap RdBu_r) + 6 differenze pairwise con TwoSlopeNorm centrata a 0. Stream-accumulate: mai tutti gli adj in RAM contemporaneamente.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4443984"/>
            <a:ext cx="2560320" cy="310896"/>
          </a:xfrm>
          <a:prstGeom prst="rect">
            <a:avLst/>
          </a:prstGeom>
          <a:solidFill>
            <a:srgbClr val="E6F6F7"/>
          </a:solidFill>
          <a:ln w="6350">
            <a:solidFill>
              <a:srgbClr val="B2E2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443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5F65"/>
                </a:solidFill>
              </a:rPr>
              <a:t>TwoSlopeNorm · GridSpecFromSubplotSpec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71616" y="932688"/>
            <a:ext cx="2816352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932688"/>
            <a:ext cx="2816352" cy="53035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932688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CELL 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9632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Edge Frequency 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9632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su Scalpo (LineCollection)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9632" y="2157984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freq[c][i,j] = % trial dove arco (i,j) presente. Soglia 30%. Visualizzato con LineCollection vettoriale: colore e alpha proporzionali alla frequenza, nessun loop per-arco.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9632" y="4443984"/>
            <a:ext cx="2560320" cy="310896"/>
          </a:xfrm>
          <a:prstGeom prst="rect">
            <a:avLst/>
          </a:prstGeom>
          <a:solidFill>
            <a:srgbClr val="E6F6F7"/>
          </a:solidFill>
          <a:ln w="6350">
            <a:solidFill>
              <a:srgbClr val="B2E2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4443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5F65"/>
                </a:solidFill>
              </a:rPr>
              <a:t>LineCollection · scalp 2D · plasma colormap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F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Tipo di Grafo × Architettura GNN</a:t>
            </a:r>
            <a:endParaRPr lang="en-US" sz="2200" dirty="0"/>
          </a:p>
        </p:txBody>
      </p:sp>
      <p:pic>
        <p:nvPicPr>
          <p:cNvPr id="4" name="Image 0" descr="/Users/danieleuras/Documents/GitHub/miralis-hypergraph-imagined-speech/.claude/worktrees/elegant-neumann/figures/eeg08_ablation_graph_meth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41248"/>
            <a:ext cx="7498080" cy="31151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02037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Balanced accuracy (4 classi) — 10 graph types × 3 modelli (GCN / GAT / DANN). Tutti ~25% = chance level (25%).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4340410"/>
            <a:ext cx="8412480" cy="566928"/>
          </a:xfrm>
          <a:prstGeom prst="rect">
            <a:avLst/>
          </a:prstGeom>
          <a:solidFill>
            <a:srgbClr val="FFFAF0"/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4340410"/>
            <a:ext cx="54864" cy="56692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38613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F00"/>
                </a:solidFill>
              </a:rPr>
              <a:t>Insight: </a:t>
            </a:r>
            <a:pPr indent="0" marL="0">
              <a:buNone/>
            </a:pPr>
            <a:r>
              <a:rPr lang="en-US" sz="1100" dirty="0">
                <a:solidFill>
                  <a:srgbClr val="7B4F00"/>
                </a:solidFill>
              </a:rPr>
              <a:t>Il grafo spaziale statico non è sufficiente per IS cross-subject. Nessuna differenza significativa tra metriche o architetture. Prossimo step: modellazione temporale.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F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Activation Map — sLORETA Dorsal View</a:t>
            </a:r>
            <a:endParaRPr lang="en-US" sz="2200" dirty="0"/>
          </a:p>
        </p:txBody>
      </p:sp>
      <p:pic>
        <p:nvPicPr>
          <p:cNvPr id="4" name="Image 0" descr="/Users/danieleuras/Downloads/graph_comparison/P000/graphs_pruned_abs_p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822960"/>
            <a:ext cx="7132320" cy="6419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84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BD5E0"/>
                </a:solidFill>
              </a:rPr>
              <a:t>P000 — graphs_pruned_abs_pcc — 4 cluster concr4 (sLORETA, fsaverage, oct5 source space)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7626738"/>
            <a:ext cx="164592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762673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sLORETA: grado pesato per-elettrodo proiettato a sorgente corticale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337560" y="7626738"/>
            <a:ext cx="164592" cy="201168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0" y="762673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Overlay: Desikan-Killiany (aparc ≈ aree Brodmann)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217920" y="7626738"/>
            <a:ext cx="164592" cy="20116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762673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Vista dorsale (dall'alto), emisferi bilaterali, surface inflated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8A8E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Zero Data Leakage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321040" cy="694944"/>
          </a:xfrm>
          <a:prstGeom prst="rect">
            <a:avLst/>
          </a:prstGeom>
          <a:solidFill>
            <a:srgbClr val="F0FFF4"/>
          </a:solidFill>
          <a:ln w="6350">
            <a:solidFill>
              <a:srgbClr val="9AE6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02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A169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Normalizzazione per-trial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z-score per-canale sull'asse temporale (axis=1). Nessuna media/std globale — nessun look-ahead tra trial.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8321040" cy="694944"/>
          </a:xfrm>
          <a:prstGeom prst="rect">
            <a:avLst/>
          </a:prstGeom>
          <a:solidFill>
            <a:srgbClr val="F0FFF4"/>
          </a:solidFill>
          <a:ln w="6350">
            <a:solidFill>
              <a:srgbClr val="9AE6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0784"/>
            <a:ext cx="402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A169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7922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Split subject-level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665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TRAIN sogg 0–49 · VAL 50–59 · TEST 60–73. Ogni soggetto appare in un solo split.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321040" cy="694944"/>
          </a:xfrm>
          <a:prstGeom prst="rect">
            <a:avLst/>
          </a:prstGeom>
          <a:solidFill>
            <a:srgbClr val="F0FFF4"/>
          </a:solidFill>
          <a:ln w="6350">
            <a:solidFill>
              <a:srgbClr val="9AE6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87168"/>
            <a:ext cx="402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A169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5786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Graph classification on-the-fly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852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 edge_index per trial calcolato nel metodo get() del dataset. Nessun grafo condiviso tra trial o soggetti.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321040" cy="694944"/>
          </a:xfrm>
          <a:prstGeom prst="rect">
            <a:avLst/>
          </a:prstGeom>
          <a:solidFill>
            <a:srgbClr val="F0FFF4"/>
          </a:solidFill>
          <a:ln w="6350">
            <a:solidFill>
              <a:srgbClr val="9AE6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73552"/>
            <a:ext cx="402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A169"/>
                </a:solidFill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3649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Label mapping y → cluster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639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y nel .pt = word label (0–109), mappato a cluster (0–3) via labelid2cluster_concr4.json solo in training.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321040" cy="694944"/>
          </a:xfrm>
          <a:prstGeom prst="rect">
            <a:avLst/>
          </a:prstGeom>
          <a:solidFill>
            <a:srgbClr val="FFF5F5"/>
          </a:solidFill>
          <a:ln w="6350">
            <a:solidFill>
              <a:srgbClr val="FEB2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59936"/>
            <a:ext cx="40233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E3E"/>
                </a:solidFill>
              </a:rPr>
              <a:t>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415137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Limite: senza modellazione temporale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4256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x=(61,384) usato come feature nodali senza estrarre dipendenze temporali → accuracy ~chance level attesa.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F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Risultati — Tutti i Modelli Testati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310896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1097280"/>
                <a:gridCol w="31089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bAcc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A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EEGNet (Braindecode)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Subject-Indep · raw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~25%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Baseline end-to-end.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ChebGCN statico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Subject-Spec · LOSO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~26%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Grafo per-soggetto (metodologia old).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GCN (10 graph types)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Subject-Indep · concr4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~25%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Ablation completo. Nessuna diff. tra metriche.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GAT 2L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Subject-Indep · concr4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~25%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Stessa tendenza di GCN.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DANN (adversarial)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Subject-Indep · concr4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~25%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λ_adv troppo alto → collasso a uniform.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114800"/>
            <a:ext cx="8412480" cy="566928"/>
          </a:xfrm>
          <a:prstGeom prst="rect">
            <a:avLst/>
          </a:prstGeom>
          <a:solidFill>
            <a:srgbClr val="FFF8E1"/>
          </a:solidFill>
          <a:ln w="6350">
            <a:solidFill>
              <a:srgbClr val="F6AD5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4114800"/>
            <a:ext cx="54864" cy="56692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13308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F00"/>
                </a:solidFill>
              </a:rPr>
              <a:t>Chance level = 25% (4 classi concr4). </a:t>
            </a:r>
            <a:pPr indent="0" marL="0">
              <a:buNone/>
            </a:pPr>
            <a:r>
              <a:rPr lang="en-US" sz="1100" dirty="0">
                <a:solidFill>
                  <a:srgbClr val="7B4F00"/>
                </a:solidFill>
              </a:rPr>
              <a:t>Nessun modello supera il baseline — previsto per GNN puramente spaziali senza modellazione temporale del segnale EEG.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BF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822960"/>
          </a:xfrm>
          <a:prstGeom prst="rect">
            <a:avLst/>
          </a:prstGeom>
          <a:solidFill>
            <a:srgbClr val="101E2E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73152" cy="822960"/>
          </a:xfrm>
          <a:prstGeom prst="rect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493776" cy="493776"/>
          </a:xfrm>
          <a:prstGeom prst="ellipse">
            <a:avLst/>
          </a:prstGeom>
          <a:solidFill>
            <a:srgbClr val="0096A0"/>
          </a:solidFill>
          <a:ln w="12700">
            <a:solidFill>
              <a:srgbClr val="009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0241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A0"/>
                </a:solidFill>
              </a:rPr>
              <a:t>Modellazione Temporale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34416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5"/>
                </a:solidFill>
              </a:rPr>
              <a:t>LSTM / Transformer sul segnale raw x=(61,384). Prerequisito per superare chance level. [EEG_08 next]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11096"/>
            <a:ext cx="8412480" cy="822960"/>
          </a:xfrm>
          <a:prstGeom prst="rect">
            <a:avLst/>
          </a:prstGeom>
          <a:solidFill>
            <a:srgbClr val="101E2E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11096"/>
            <a:ext cx="73152" cy="822960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75688"/>
            <a:ext cx="493776" cy="493776"/>
          </a:xfrm>
          <a:prstGeom prst="ellipse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75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200253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7D8"/>
                </a:solidFill>
              </a:rPr>
              <a:t>Hypergraph Neural Network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32257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5"/>
                </a:solidFill>
              </a:rPr>
              <a:t>HGNN su ipergrafi H=(61,61) da EEG_07f. Obiettivo: replicare DHSLP/DHSLF (Li et al. 2025) ~78%. [EEG_09]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9504"/>
            <a:ext cx="8412480" cy="822960"/>
          </a:xfrm>
          <a:prstGeom prst="rect">
            <a:avLst/>
          </a:prstGeom>
          <a:solidFill>
            <a:srgbClr val="101E2E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89504"/>
            <a:ext cx="73152" cy="82296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54096"/>
            <a:ext cx="493776" cy="493776"/>
          </a:xfrm>
          <a:prstGeom prst="ellipse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29809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</a:rPr>
              <a:t>Subject Clustering EEG-First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330098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5"/>
                </a:solidFill>
              </a:rPr>
              <a:t>Cluster soggetti da feature EEG (band power, connettività, topologia) → post-hoc overlay accuracy. [Francesco]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67912"/>
            <a:ext cx="8412480" cy="822960"/>
          </a:xfrm>
          <a:prstGeom prst="rect">
            <a:avLst/>
          </a:prstGeom>
          <a:solidFill>
            <a:srgbClr val="101E2E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867912"/>
            <a:ext cx="73152" cy="82296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32504"/>
            <a:ext cx="493776" cy="493776"/>
          </a:xfrm>
          <a:prstGeom prst="ellipse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325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70432" y="39593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7AEA"/>
                </a:solidFill>
              </a:rPr>
              <a:t>sLORETA Loop Completo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42793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5"/>
                </a:solidFill>
              </a:rPr>
              <a:t>Brain maps per tutti i 74 soggetti × 5 metriche → dashboard comparativa inter-soggetto.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8A8E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Stato dei Lavori — 28 Aprile 2026</dc:title>
  <dc:subject>PptxGenJS Presentation</dc:subject>
  <dc:creator>Daniele Uras</dc:creator>
  <cp:lastModifiedBy>Daniele Uras</cp:lastModifiedBy>
  <cp:revision>1</cp:revision>
  <dcterms:created xsi:type="dcterms:W3CDTF">2026-04-28T13:35:51Z</dcterms:created>
  <dcterms:modified xsi:type="dcterms:W3CDTF">2026-04-28T13:35:51Z</dcterms:modified>
</cp:coreProperties>
</file>