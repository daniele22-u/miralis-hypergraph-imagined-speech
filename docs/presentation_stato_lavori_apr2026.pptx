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Questa presentazione riassume lo stato dei lavori della tesi magistrale su decodifica dell'imagined speech da EEG con Graph Neural Networks.</a:t>
            </a:r>
            <a:endParaRPr lang="it-IT" dirty="0"/>
          </a:p>
          <a:p>
            <a:r>
              <a:rPr lang="it-IT" dirty="0"/>
              <a:t>Il progetto e' in corso da circa 9 mesi presso il DEIB del Politecnico di Milano.</a:t>
            </a:r>
            <a:endParaRPr lang="it-IT" dirty="0"/>
          </a:p>
          <a:p>
            <a:r>
              <a:rPr lang="it-IT" dirty="0"/>
              <a:t>L'obiettivo finale e' costruire un modello che riconosca la categoria semantica di una parola immaginata da segnali cerebrali.</a:t>
            </a:r>
            <a:endParaRPr lang="it-IT" dirty="0"/>
          </a:p>
          <a:p>
            <a:r>
              <a:rPr lang="it-IT" dirty="0"/>
              <a:t>Sono stati completati 9 notebook sperimentali (EEG_00 - EEG_09); il prossimo passo e' EEG_10 con Hypergraph Neural Networks.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task e' classificare la parola immaginata in 4 categorie: CONCRETO (oggetti fisici), AZIONE (verbi di movimento), STATO (verbi stativi), ASTRATTO (concetti).</a:t>
            </a:r>
            <a:endParaRPr lang="it-IT" dirty="0"/>
          </a:p>
          <a:p>
            <a:r>
              <a:rPr lang="it-IT" dirty="0"/>
              <a:t>Il dataset contiene 70 soggetti con circa 1100 trial ciascuno (5 sessioni x ~220 epoche) -- e' insolitamente grande per questo dominio.</a:t>
            </a:r>
            <a:endParaRPr lang="it-IT" dirty="0"/>
          </a:p>
          <a:p>
            <a:r>
              <a:rPr lang="it-IT" dirty="0"/>
              <a:t>L'approccio end-to-end e' fondamentale: non usiamo feature engineering manuale, il modello impara direttamente dal segnale grezzo (59 canali x 384 campioni).</a:t>
            </a:r>
            <a:endParaRPr lang="it-IT" dirty="0"/>
          </a:p>
          <a:p>
            <a:r>
              <a:rPr lang="it-IT" dirty="0"/>
              <a:t>Domanda probabile: "Perche 4 classi?" -- Risposta: le 110 parole originali sono troppo poche per trial per classe; il clustering semantico riduce a 4 categorie affidabili.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Questo e' il risultato piu importante dell'analisi esplorativa (EEG_00): la varianza inter-soggetto domina completamente.</a:t>
            </a:r>
            <a:endParaRPr lang="it-IT" dirty="0"/>
          </a:p>
          <a:p>
            <a:r>
              <a:rPr lang="it-IT" dirty="0"/>
              <a:t>eps2(soggetto)=0.85 significa che l'85% della varianza nei dati EEG e' spiegata dall'identita' del soggetto, non dalla parola immaginata.</a:t>
            </a:r>
            <a:endParaRPr lang="it-IT" dirty="0"/>
          </a:p>
          <a:p>
            <a:r>
              <a:rPr lang="it-IT" dirty="0"/>
              <a:t>eps2(parola)=0.03 -- solo il 3% della varianza contiene informazione semantica -- questo e' il segnale che vogliamo estrarre.</a:t>
            </a:r>
            <a:endParaRPr lang="it-IT" dirty="0"/>
          </a:p>
          <a:p>
            <a:r>
              <a:rPr lang="it-IT" dirty="0"/>
              <a:t>La scelta del setting strict subject-independent e' metodologicamente obbligata: altrimenti si classificherebbe il soggetto, non la parola.</a:t>
            </a:r>
            <a:endParaRPr lang="it-IT" dirty="0"/>
          </a:p>
          <a:p>
            <a:r>
              <a:rPr lang="it-IT" dirty="0"/>
              <a:t>Domanda probabile: "E' possibile fare meglio con piu dati?" -- Si', Bomatter 2025 (NeurIPS) suggerisce che servono piu di 200 soggetti.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preprocessing e' gia' completato: i dati sono in HDF5 con 59 canali validi (rimossi A1, A2 di riferimento) e 384 campioni per trial a 256 Hz.</a:t>
            </a:r>
            <a:endParaRPr lang="it-IT" dirty="0"/>
          </a:p>
          <a:p>
            <a:r>
              <a:rPr lang="it-IT" dirty="0"/>
              <a:t>Il clustering semantico concr4 usa la concretezza lessicale delle parole come criterio di raggruppamento -- schema validato da psicolinguistica.</a:t>
            </a:r>
            <a:endParaRPr lang="it-IT" dirty="0"/>
          </a:p>
          <a:p>
            <a:r>
              <a:rPr lang="it-IT" dirty="0"/>
              <a:t>La Balanced Accuracy e' la metrica corretta perche le classi non sono perfettamente bilanciate (ASTRATTO e' piu frequente delle altre).</a:t>
            </a:r>
            <a:endParaRPr lang="it-IT" dirty="0"/>
          </a:p>
          <a:p>
            <a:r>
              <a:rPr lang="it-IT" dirty="0"/>
              <a:t>Lo split e' sempre lo stesso in tutti gli esperimenti: train sogg. 0-49, val 50-59, test 60-73 -- i soggetti test non vengono mai visti durante il training.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Ogni notebook documenta sistematicamente perche' una famiglia di approcci non funziona -- e' una progressione metodologica deliberata.</a:t>
            </a:r>
            <a:endParaRPr lang="it-IT" dirty="0"/>
          </a:p>
          <a:p>
            <a:r>
              <a:rPr lang="it-IT" dirty="0"/>
              <a:t>EEG_00/01: l'analisi ANOVA ha rivelato il problema strutturale (eps2=0.85) prima di sprecare tempo su modelli complessi.</a:t>
            </a:r>
            <a:endParaRPr lang="it-IT" dirty="0"/>
          </a:p>
          <a:p>
            <a:r>
              <a:rPr lang="it-IT" dirty="0"/>
              <a:t>EEG_05-07 (Braindecode): 6 architetture state-of-the-art testate in 5-fold CV -- tutte a chance esatto (std &lt;= 0.001). Non e' variabilita' casuale.</a:t>
            </a:r>
            <a:endParaRPr lang="it-IT" dirty="0"/>
          </a:p>
          <a:p>
            <a:r>
              <a:rPr lang="it-IT" dirty="0"/>
              <a:t>EEG_08/09: modelli GNN originali con grafo su elettrodi -- stessa conclusione ma con architetture motivate da letteratura specifica.</a:t>
            </a:r>
            <a:endParaRPr lang="it-IT" dirty="0"/>
          </a:p>
          <a:p>
            <a:r>
              <a:rPr lang="it-IT" dirty="0"/>
              <a:t>EEG_10 (prossimo): hypergraph per catturare relazioni di ordine superiore tra gruppi di elettrodi.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Temporal Encoder e' il contributo originale di EEG_08: una 1D CNN applicata a ogni elettrodo indipendentemente con pesi condivisi tra i 59 canali.</a:t>
            </a:r>
            <a:endParaRPr lang="it-IT" dirty="0"/>
          </a:p>
          <a:p>
            <a:r>
              <a:rPr lang="it-IT" dirty="0"/>
              <a:t>Questo significa che la rete impara filtri temporali universali -- la stessa CNN che estrae pattern da F3 viene applicata identica a Oz, Cz, ecc.</a:t>
            </a:r>
            <a:endParaRPr lang="it-IT" dirty="0"/>
          </a:p>
          <a:p>
            <a:r>
              <a:rPr lang="it-IT" dirty="0"/>
              <a:t>L'output e' un embedding 64-dim per nodo: il segnale temporale (384 campioni) viene compresso in un vettore che cattura oscillazioni e transitori.</a:t>
            </a:r>
            <a:endParaRPr lang="it-IT" dirty="0"/>
          </a:p>
          <a:p>
            <a:r>
              <a:rPr lang="it-IT" dirty="0"/>
              <a:t>Il grafo PCC k-NN connette i 59 elettrodi in base alla correlazione di Pearson media calcolata su 1000 trial di training -- connettivita' funzionale media del gruppo.</a:t>
            </a:r>
            <a:endParaRPr lang="it-IT" dirty="0"/>
          </a:p>
          <a:p>
            <a:r>
              <a:rPr lang="it-IT" dirty="0"/>
              <a:t>La differenza rispetto a GCNs-Net (Lun 2022): essi processano ogni timestep separatamente (time-resolved); noi produciamo un embedding per l'intero trial.</a:t>
            </a:r>
            <a:endParaRPr lang="it-IT" dirty="0"/>
          </a:p>
          <a:p>
            <a:r>
              <a:rPr lang="it-IT" dirty="0"/>
              <a:t>Il class collapse su STATO e' il problema principale: il grafo e' identico per tutti i soggetti, quindi perde la topologia funzionale individuale.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Gradient Reversal Layer (GRL) e' il cuore del meccanismo adversarial: nel forward pass il segnale passa invariato; nel backward pass il gradiente viene moltiplicato per -alpha.</a:t>
            </a:r>
            <a:endParaRPr lang="it-IT" dirty="0"/>
          </a:p>
          <a:p>
            <a:r>
              <a:rPr lang="it-IT" dirty="0"/>
              <a:t>Questo crea un gioco minimax: il task classifier vuole minimizzare l'errore sulla parola; il subject discriminator vuole classificare il soggetto; il GRL forza l'encoder a massimizzare l'errore del discriminatore.</a:t>
            </a:r>
            <a:endParaRPr lang="it-IT" dirty="0"/>
          </a:p>
          <a:p>
            <a:r>
              <a:rPr lang="it-IT" dirty="0"/>
              <a:t>Il risultato atteso e' un embedding h che non contiene informazione sull'identita' del soggetto -- subject-invariant.</a:t>
            </a:r>
            <a:endParaRPr lang="it-IT" dirty="0"/>
          </a:p>
          <a:p>
            <a:r>
              <a:rPr lang="it-IT" dirty="0"/>
              <a:t>Il parametro alpha segue uno schedule DANN: alpha = 2/(1+exp(-10*p))-1 dove p e' la frazione di training completata. Cresce da 0 a 1, quindi all'inizio il GRL non agisce.</a:t>
            </a:r>
            <a:endParaRPr lang="it-IT" dirty="0"/>
          </a:p>
          <a:p>
            <a:r>
              <a:rPr lang="it-IT" dirty="0"/>
              <a:t>Il problema della v1 (patience=15): il training si fermava all'epoch ~19 con alpha~0.38 -- il GRL non aveva ancora sufficiente forza per riorganizzare le rappresentazioni.</a:t>
            </a:r>
            <a:endParaRPr lang="it-IT" dirty="0"/>
          </a:p>
          <a:p>
            <a:r>
              <a:rPr lang="it-IT" dirty="0"/>
              <a:t>La v2 (patience=40, lambda=0.5) ha dato al GRL tutto il tempo necessario: alpha verso 1.0, ma il risultato non e' migliorato. Diagnosi: il segnale semantico (eps2=0.03) non e' abbastanza forte nemmeno con domain adaptation.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Questo confronto e' fondamentale per contestualizzare i risultati: il problema e' aperto in letteratura.</a:t>
            </a:r>
            <a:endParaRPr lang="it-IT" dirty="0"/>
          </a:p>
          <a:p>
            <a:r>
              <a:rPr lang="it-IT" dirty="0"/>
              <a:t>FAST (Jiang 2025) e' il lavoro piu simile al nostro: 57 soggetti, 5 classi, strict LOSO, end-to-end -- ottiene solo +6.9% su chance (26.9% con chance=20%).</a:t>
            </a:r>
            <a:endParaRPr lang="it-IT" dirty="0"/>
          </a:p>
          <a:p>
            <a:r>
              <a:rPr lang="it-IT" dirty="0"/>
              <a:t>MRF-EEGNet (Ko 2025) raggiunge 67% ma su task binario con solo 6 soggetti -- non comparabile con il nostro setting.</a:t>
            </a:r>
            <a:endParaRPr lang="it-IT" dirty="0"/>
          </a:p>
          <a:p>
            <a:r>
              <a:rPr lang="it-IT" dirty="0"/>
              <a:t>DHSLP (Li 2025) usa feature engineering e valutazione subject-dependent -- 78% ma con condizioni molto piu' favorevoli.</a:t>
            </a:r>
            <a:endParaRPr lang="it-IT" dirty="0"/>
          </a:p>
          <a:p>
            <a:r>
              <a:rPr lang="it-IT" dirty="0"/>
              <a:t>Il punto chiave da comunicare: i paper con alta accuracy non usano strict cross-subject end-to-end su dataset grandi. Il nostro setting e' piu' rigoroso.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Queste 3 cause sono indipendenti e cumulative: anche risolverne una non garantisce il successo.</a:t>
            </a:r>
            <a:endParaRPr lang="it-IT" dirty="0"/>
          </a:p>
          <a:p>
            <a:r>
              <a:rPr lang="it-IT" dirty="0"/>
              <a:t>Causa 1 (segnale debole): il fatto che train_acc max sia 0.32 e' la prova piu' forte -- il modello non riesce a fittare nemmeno il training set, quindi non e' un problema di generalizzazione.</a:t>
            </a:r>
            <a:endParaRPr lang="it-IT" dirty="0"/>
          </a:p>
          <a:p>
            <a:r>
              <a:rPr lang="it-IT" dirty="0"/>
              <a:t>Causa 2 (grafo statico): il grafo PCC e' calcolato una volta sulla media di tutti i soggetti di training -- non cattura la topologia funzionale individuale che cambia da soggetto a soggetto.</a:t>
            </a:r>
            <a:endParaRPr lang="it-IT" dirty="0"/>
          </a:p>
          <a:p>
            <a:r>
              <a:rPr lang="it-IT" dirty="0"/>
              <a:t>Causa 3 (limite dati): Bomatter 2025 dimostra empiricamente che con meno di 200 soggetti la generalizzazione cross-subject e' strutturalmente limitata. Con 70 soggetti siamo sotto questa soglia.</a:t>
            </a:r>
            <a:endParaRPr lang="it-IT" dirty="0"/>
          </a:p>
          <a:p>
            <a:r>
              <a:rPr lang="it-IT" dirty="0"/>
              <a:t>Domanda probabile: "Cosa faresti con piu' soggetti?" -- Il dataset attuale ha 70 soggetti, che e' gia' eccezionalmente grande per imagined speech. Non e' possibile acquisirne altri nel contesto della tesi.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EEG_10 e' il passo centrale della tesi: implementare Hypergraph Neural Networks per catturare relazioni di ordine superiore tra gruppi di elettrodi.</a:t>
            </a:r>
            <a:endParaRPr lang="it-IT" dirty="0"/>
          </a:p>
          <a:p>
            <a:r>
              <a:rPr lang="it-IT" dirty="0"/>
              <a:t>Un iperedge connette 3+ nodi simultaneamente -- non solo coppie. Questo permette di modellare reti funzionali cerebrali come unita' (es. rete frontale: F3, F4, Fz, FCz tutti insieme in un iperedge).</a:t>
            </a:r>
            <a:endParaRPr lang="it-IT" dirty="0"/>
          </a:p>
          <a:p>
            <a:r>
              <a:rPr lang="it-IT" dirty="0"/>
              <a:t>Instance Normalization e' un quick win a basso sforzo: una riga di codice che normalizza ogni trial indipendentemente, rimuovendo il DC offset di ampiezza specifico del soggetto.</a:t>
            </a:r>
            <a:endParaRPr lang="it-IT" dirty="0"/>
          </a:p>
          <a:p>
            <a:r>
              <a:rPr lang="it-IT" dirty="0"/>
              <a:t>Il contrastive learning (CLISA) e' il passo piu' ambizioso: sfrutta i 70 soggetti come vantaggio costruendo coppie positive cross-subject (stessa parola, soggetti diversi).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limite fondamentale dei grafi classici e' l'arco binario: ogni arco connette esattamente 2 nodi. Le interazioni cerebrali reali spesso coinvolgono gruppi di regioni.</a:t>
            </a:r>
            <a:endParaRPr lang="it-IT" dirty="0"/>
          </a:p>
          <a:p>
            <a:r>
              <a:rPr lang="it-IT" dirty="0"/>
              <a:t>Esempio concreto: la rete frontale (F3, F4, Fz, FCz) e' una unita' funzionale attiva nel linguaggio immaginato. Con un grafo classico si modellano solo le coppie F3-F4, F3-Fz, ecc. -- non la dinamica collettiva.</a:t>
            </a:r>
            <a:endParaRPr lang="it-IT" dirty="0"/>
          </a:p>
          <a:p>
            <a:r>
              <a:rPr lang="it-IT" dirty="0"/>
              <a:t>Con un hypergraph, un singolo iperedge {F3, F4, Fz, FCz} cattura la co-attivazione simultanea dell'intera rete -- informazione non recuperabile da nessuna combinazione di archi pairwise.</a:t>
            </a:r>
            <a:endParaRPr lang="it-IT" dirty="0"/>
          </a:p>
          <a:p>
            <a:r>
              <a:rPr lang="it-IT" dirty="0"/>
              <a:t>Li et al. 2025 (DHSLP) raggiungono 78% su imagined speech con hypergraph dinamico -- anche se in setting piu' facile (subject-dependent, feature-based), dimostra il potenziale.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La domanda principale e' empirica: vogliamo misurare se le iperedge aggiungono potere discriminativo rispetto ai grafi pairwise nello stesso setting sperimentale.</a:t>
            </a:r>
            <a:endParaRPr lang="it-IT" dirty="0"/>
          </a:p>
          <a:p>
            <a:r>
              <a:rPr lang="it-IT" dirty="0"/>
              <a:t>La sotto-domanda 2 (domain adaptation su hypergraph) e' la novita' metodologica: nessun paper ha combinato GRL con rappresentazioni ipergrafiche per EEG.</a:t>
            </a:r>
            <a:endParaRPr lang="it-IT" dirty="0"/>
          </a:p>
          <a:p>
            <a:r>
              <a:rPr lang="it-IT" dirty="0"/>
              <a:t>La sotto-domanda 3 (limite con 70 soggetti) e' di interesse per la comunita': stabilisce un lower bound empirico per questo tipo di dataset.</a:t>
            </a:r>
            <a:endParaRPr lang="it-IT" dirty="0"/>
          </a:p>
          <a:p>
            <a:r>
              <a:rPr lang="it-IT" dirty="0"/>
              <a:t>Risposta attesa: anche se non si supera il chance level in modo netto, il contributo e' documentare sistematicamente cosa funziona e cosa no in questo setting.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contributo principale e' metodologico: una progressione sperimentale rigorosa che documenta ogni passo e identifica i limiti strutturali del problema.</a:t>
            </a:r>
            <a:endParaRPr lang="it-IT" dirty="0"/>
          </a:p>
          <a:p>
            <a:r>
              <a:rPr lang="it-IT" dirty="0"/>
              <a:t>La progressione ML - DL - GCN - GAT+adversarial e' completa e confrontabile: ogni modello usa lo stesso split, la stessa metrica, lo stesso dataset.</a:t>
            </a:r>
            <a:endParaRPr lang="it-IT" dirty="0"/>
          </a:p>
          <a:p>
            <a:r>
              <a:rPr lang="it-IT" dirty="0"/>
              <a:t>Il fatto che anche FAST 2025 (il miglior paper dello stato dell'arte) ottiene solo +6.9% su chance in strict LOSO valida i nostri risultati -- non e' un errore implementativo.</a:t>
            </a:r>
            <a:endParaRPr lang="it-IT" dirty="0"/>
          </a:p>
          <a:p>
            <a:r>
              <a:rPr lang="it-IT" dirty="0"/>
              <a:t>Prossimo milestone realistico: EEG_10 Hypergraph con 27-30% test_bacc -- anche un piccolo miglioramento stabile avrebbe valore scientifico.</a:t>
            </a:r>
            <a:endParaRPr lang="it-IT" dirty="0"/>
          </a:p>
          <a:p>
            <a:r>
              <a:rPr lang="it-IT" dirty="0"/>
              <a:t>Contributo atteso per la tesi: primo studio che combina Hypergraph end-to-end con domain adversarial su imagined speech in strict cross-subject evaluation con 70 soggetti.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13716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457200"/>
            <a:ext cx="109728" cy="16459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50292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 dell'Imagined Speech da EEG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Graph Neural Networks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3774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dei Lavori — Aprile 2026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3063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Daniele Uras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3429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Milano — DEIB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0" y="274320"/>
            <a:ext cx="1554480" cy="640080"/>
          </a:xfrm>
          <a:prstGeom prst="rect">
            <a:avLst/>
          </a:prstGeom>
          <a:solidFill>
            <a:srgbClr val="CADCFC">
              <a:alpha val="3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0" y="27432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Magistrale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2025–2026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 della Tesi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59436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Costruire un dizionario neurale semantico che mappi pattern EEG a categorie concettuali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segnale EEG grezzo — 59 canali, 256 Hz, ~1.5s per trial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categoria semantica della parola immaginata (4 classi)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Approccio: Graph Neural Networks end-to-end su segnale raw — no feature engineering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70 soggetti, 110 parole, ~220 epoche/sessione, 5 sessioni/soggetto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0" y="914400"/>
            <a:ext cx="2286000" cy="3474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0" y="9144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CLASSI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SEMANTICHE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12280" y="1691640"/>
            <a:ext cx="182880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12280" y="1691640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12280" y="2313432"/>
            <a:ext cx="1828800" cy="475488"/>
          </a:xfrm>
          <a:prstGeom prst="rect">
            <a:avLst/>
          </a:prstGeom>
          <a:solidFill>
            <a:srgbClr val="7EB8F7"/>
          </a:solidFill>
          <a:ln w="12700">
            <a:solidFill>
              <a:srgbClr val="7EB8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0" y="2313432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12280" y="2935224"/>
            <a:ext cx="1828800" cy="475488"/>
          </a:xfrm>
          <a:prstGeom prst="rect">
            <a:avLst/>
          </a:prstGeom>
          <a:solidFill>
            <a:srgbClr val="A0C4FF"/>
          </a:solidFill>
          <a:ln w="12700">
            <a:solidFill>
              <a:srgbClr val="A0C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12280" y="293522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12280" y="3557016"/>
            <a:ext cx="1828800" cy="475488"/>
          </a:xfrm>
          <a:prstGeom prst="rect">
            <a:avLst/>
          </a:prstGeom>
          <a:solidFill>
            <a:srgbClr val="BDD5F8"/>
          </a:solidFill>
          <a:ln w="12700">
            <a:solidFill>
              <a:srgbClr val="BDD5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12280" y="3557016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ASTRATTO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Problema Centrale: Dominanza Inter-Soggetto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3840480" cy="3474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della Varianza (ANOVA)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90000"/>
            <a:ext cx="3657600" cy="5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ε²(soggetto) = 0.85 → 85% varianza EEG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ε²(parola)   = 0.03 → 3% varianza EEG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ε²(sessione) = 0.01 → trascurabile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2029968"/>
            <a:ext cx="640080" cy="139903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44728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Soggetto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00200" y="3379622"/>
            <a:ext cx="640080" cy="4937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08760" y="344728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Parola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606040" y="3383280"/>
            <a:ext cx="640080" cy="45720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344728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0" y="868680"/>
            <a:ext cx="4206240" cy="347472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8686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Implicazione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09160" y="1417320"/>
            <a:ext cx="39319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modelli imparano a classificare il SOGGETTO, non la parola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Setting: strict subject-independent</a:t>
            </a:r>
            <a:endParaRPr lang="en-US" sz="13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Train: soggetti 0–49 | Val: 50–59 | Test: 60–73 (mai visti)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level: 25% (4 classi)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più rigoroso possibile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dei Dati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 Raw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463040" y="180594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4592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4592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59ch × 384 camp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80360" y="180594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6324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6324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concr4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97680" y="180594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056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715000" y="180594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9788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32320" y="180594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Predizione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743200"/>
            <a:ext cx="8229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sul Pipeline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3154680"/>
            <a:ext cx="78638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concr4: CONCRETO / AZIONE / STATO / ASTRATTO (4 classi bilanciate)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soggetti: train 0–49 (50 sogg.) | val 50–59 (10 sogg.) | test 60–73 (14 sogg.)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 principale: Balanced Accuracy (bacc) — immune allo sbilanciamento classi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Progressione Sperimentale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22960"/>
          <a:ext cx="8595360" cy="4023360"/>
        </p:xfrm>
        <a:graphic>
          <a:graphicData uri="http://schemas.openxmlformats.org/drawingml/2006/table">
            <a:tbl>
              <a:tblPr/>
              <a:tblGrid>
                <a:gridCol w="1280160"/>
                <a:gridCol w="2468880"/>
                <a:gridCol w="2011680"/>
                <a:gridCol w="28346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NOTEBOOK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MODELLO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RISULTATO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CONCLUSIONE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EEG_00/01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Analisi esplorativa + ANOVA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ε²(sogg)=0.85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Problema nei dati, non nel modello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EEG_05/07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EEGNet, Conformer, Braindecode (5-fold CV)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test_bacc = 25.0% ± 0.001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DL standard: chance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EEG_08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ChebGCN + Grafo PCC k-NN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test_bacc = 0.255 (1.02×)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Grafo statico: chance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EEG_09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GAT + Domain Adversarial (GRL)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test_bacc = 0.254 (1.02×)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Adversarial: chance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EEG_10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Hypergraph Neural Networks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</a:rPr>
                        <a:t>prossimo step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Relazioni ordine superiore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EEG_08 — TemporalChebGCN (Lun et al. 2022, GCNs-Net)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36576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59 nodi × 384 campioni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600200"/>
            <a:ext cx="3657600" cy="594360"/>
          </a:xfrm>
          <a:prstGeom prst="rect">
            <a:avLst/>
          </a:prstGeom>
          <a:solidFill>
            <a:srgbClr val="5B8DB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6002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Encoder (contributo originale)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CNN pesi condivisi, per-nodo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(1, 384) → Conv1d → Pool → 64-dim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2377440"/>
            <a:ext cx="3657600" cy="594360"/>
          </a:xfrm>
          <a:prstGeom prst="rect">
            <a:avLst/>
          </a:prstGeom>
          <a:solidFill>
            <a:srgbClr val="028090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3774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 PCC k-NN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(k=6, 420 archi)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297180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3154680"/>
            <a:ext cx="3657600" cy="594360"/>
          </a:xfrm>
          <a:prstGeom prst="rect">
            <a:avLst/>
          </a:prstGeom>
          <a:solidFill>
            <a:srgbClr val="5B8DB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15468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ChebConv(K=2) ×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3749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931920"/>
            <a:ext cx="36576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93192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Mean Pool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MLP → 4 classi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822960"/>
          <a:ext cx="4206240" cy="2286000"/>
        </p:xfrm>
        <a:graphic>
          <a:graphicData uri="http://schemas.openxmlformats.org/drawingml/2006/table">
            <a:tbl>
              <a:tblPr/>
              <a:tblGrid>
                <a:gridCol w="2560320"/>
                <a:gridCol w="1645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Modello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test_bacc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ChebGCN_2L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0.249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ChebGCN_3L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0.245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ChebGCNSkip ★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085"/>
                          </a:solidFill>
                        </a:rPr>
                        <a:t>0.255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888888"/>
                          </a:solidFill>
                        </a:rPr>
                        <a:t>Chance level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888888"/>
                          </a:solidFill>
                        </a:rPr>
                        <a:t>0.250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572000" y="3291840"/>
            <a:ext cx="4206240" cy="731520"/>
          </a:xfrm>
          <a:prstGeom prst="rect">
            <a:avLst/>
          </a:prstGeom>
          <a:solidFill>
            <a:srgbClr val="FFF3CD"/>
          </a:solidFill>
          <a:ln w="12700">
            <a:solidFill>
              <a:srgbClr val="F0AD4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63440" y="329184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Class collapse su STATO (~68% predizioni) — grafo statico identico per tutti i soggetti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Riferimento: Lun et al. 2022 — GCNs-Net | Contributo originale: Temporal Encoder 1D CNN con pesi condivisi tra i 59 canali — a differenza di GCNs-Net (time-resolved), qui ogni canale produce un embedding statico 64-dim che il GCN poi aggrega sul grafo PCC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EEG_09 — Domain Adversarial GAT (DAGAM, Xu et al. 2023)</a:t>
            </a:r>
            <a:endParaRPr lang="en-US" sz="2200" dirty="0"/>
          </a:p>
        </p:txBody>
      </p:sp>
      <p:sp>
        <p:nvSpPr>
          <p:cNvPr id="10" name="BgInput"/>
          <p:cNvSpPr/>
          <p:nvPr/>
        </p:nvSpPr>
        <p:spPr>
          <a:xfrm>
            <a:off x="320000" y="780000"/>
            <a:ext cx="3700000" cy="360000"/>
          </a:xfrm>
          <a:prstGeom prst="rect">
            <a:avLst/>
          </a:prstGeom>
          <a:solidFill>
            <a:srgbClr val="1E2761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11" name="TxtInput"/>
          <p:cNvSpPr/>
          <p:nvPr/>
        </p:nvSpPr>
        <p:spPr>
          <a:xfrm>
            <a:off x="320000" y="780000"/>
            <a:ext cx="370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300" b="1" dirty="0">
                <a:solidFill>
                  <a:srgbClr val="FFFFFF"/>
                </a:solidFill>
                <a:latin typeface="Calibri" pitchFamily="34" charset="0"/>
              </a:rPr>
              <a:t>Input — 59 nodi × 384 campioni</a:t>
            </a:r>
            <a:endParaRPr lang="it-IT" sz="1300" dirty="0"/>
          </a:p>
        </p:txBody>
      </p:sp>
      <p:sp>
        <p:nvSpPr>
          <p:cNvPr id="12" name="Arr1"/>
          <p:cNvSpPr/>
          <p:nvPr/>
        </p:nvSpPr>
        <p:spPr>
          <a:xfrm>
            <a:off x="2020000" y="1140000"/>
            <a:ext cx="30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600" dirty="0">
                <a:solidFill>
                  <a:srgbClr val="1E2761"/>
                </a:solidFill>
                <a:latin typeface="Calibri" pitchFamily="34" charset="0"/>
              </a:rPr>
              <a:t>↓</a:t>
            </a:r>
            <a:endParaRPr lang="it-IT" sz="1600" dirty="0"/>
          </a:p>
        </p:txBody>
      </p:sp>
      <p:sp>
        <p:nvSpPr>
          <p:cNvPr id="13" name="BgTempEnc"/>
          <p:cNvSpPr/>
          <p:nvPr/>
        </p:nvSpPr>
        <p:spPr>
          <a:xfrm>
            <a:off x="320000" y="1300000"/>
            <a:ext cx="3700000" cy="420000"/>
          </a:xfrm>
          <a:prstGeom prst="rect">
            <a:avLst/>
          </a:prstGeom>
          <a:solidFill>
            <a:srgbClr val="2A5298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14" name="TxtTempEnc"/>
          <p:cNvSpPr/>
          <p:nvPr/>
        </p:nvSpPr>
        <p:spPr>
          <a:xfrm>
            <a:off x="320000" y="1300000"/>
            <a:ext cx="3700000" cy="4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200" b="1" dirty="0">
                <a:solidFill>
                  <a:srgbClr val="FFFFFF"/>
                </a:solidFill>
                <a:latin typeface="Calibri" pitchFamily="34" charset="0"/>
              </a:rPr>
              <a:t>Temporal Encoder (contributo originale)</a:t>
            </a:r>
            <a:endParaRPr lang="it-IT" sz="1200" dirty="0"/>
          </a:p>
          <a:p>
            <a:pPr algn="ctr" indent="0" marL="0">
              <a:buNone/>
            </a:pPr>
            <a:r>
              <a:rPr lang="it-IT" sz="1100" dirty="0">
                <a:solidFill>
                  <a:srgbClr val="CADCFC"/>
                </a:solidFill>
                <a:latin typeface="Calibri" pitchFamily="34" charset="0"/>
              </a:rPr>
              <a:t>1D CNN pesi condivisi — 384 camp. → emb. 64-dim per nodo</a:t>
            </a:r>
            <a:endParaRPr lang="it-IT" sz="1100" dirty="0"/>
          </a:p>
        </p:txBody>
      </p:sp>
      <p:sp>
        <p:nvSpPr>
          <p:cNvPr id="15" name="Arr2"/>
          <p:cNvSpPr/>
          <p:nvPr/>
        </p:nvSpPr>
        <p:spPr>
          <a:xfrm>
            <a:off x="2020000" y="1720000"/>
            <a:ext cx="30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600" dirty="0">
                <a:solidFill>
                  <a:srgbClr val="1E2761"/>
                </a:solidFill>
                <a:latin typeface="Calibri" pitchFamily="34" charset="0"/>
              </a:rPr>
              <a:t>↓</a:t>
            </a:r>
            <a:endParaRPr lang="it-IT" sz="1600" dirty="0"/>
          </a:p>
        </p:txBody>
      </p:sp>
      <p:sp>
        <p:nvSpPr>
          <p:cNvPr id="16" name="BgGAT"/>
          <p:cNvSpPr/>
          <p:nvPr/>
        </p:nvSpPr>
        <p:spPr>
          <a:xfrm>
            <a:off x="320000" y="1880000"/>
            <a:ext cx="3700000" cy="360000"/>
          </a:xfrm>
          <a:prstGeom prst="rect">
            <a:avLst/>
          </a:prstGeom>
          <a:solidFill>
            <a:srgbClr val="1A9688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17" name="TxtGAT"/>
          <p:cNvSpPr/>
          <p:nvPr/>
        </p:nvSpPr>
        <p:spPr>
          <a:xfrm>
            <a:off x="320000" y="1880000"/>
            <a:ext cx="370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200" b="1" dirty="0">
                <a:solidFill>
                  <a:srgbClr val="FFFFFF"/>
                </a:solidFill>
                <a:latin typeface="Calibri" pitchFamily="34" charset="0"/>
              </a:rPr>
              <a:t>GATConv (8 head) × 2 — attention dinamica sui vicini</a:t>
            </a:r>
            <a:endParaRPr lang="it-IT" sz="1200" dirty="0"/>
          </a:p>
        </p:txBody>
      </p:sp>
      <p:sp>
        <p:nvSpPr>
          <p:cNvPr id="18" name="Arr3"/>
          <p:cNvSpPr/>
          <p:nvPr/>
        </p:nvSpPr>
        <p:spPr>
          <a:xfrm>
            <a:off x="2020000" y="2240000"/>
            <a:ext cx="30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600" dirty="0">
                <a:solidFill>
                  <a:srgbClr val="1E2761"/>
                </a:solidFill>
                <a:latin typeface="Calibri" pitchFamily="34" charset="0"/>
              </a:rPr>
              <a:t>↓</a:t>
            </a:r>
            <a:endParaRPr lang="it-IT" sz="1600" dirty="0"/>
          </a:p>
        </p:txBody>
      </p:sp>
      <p:sp>
        <p:nvSpPr>
          <p:cNvPr id="19" name="BgEmb"/>
          <p:cNvSpPr/>
          <p:nvPr/>
        </p:nvSpPr>
        <p:spPr>
          <a:xfrm>
            <a:off x="320000" y="2400000"/>
            <a:ext cx="3700000" cy="360000"/>
          </a:xfrm>
          <a:prstGeom prst="rect">
            <a:avLst/>
          </a:prstGeom>
          <a:solidFill>
            <a:srgbClr val="1E2761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20" name="TxtEmb"/>
          <p:cNvSpPr/>
          <p:nvPr/>
        </p:nvSpPr>
        <p:spPr>
          <a:xfrm>
            <a:off x="320000" y="2400000"/>
            <a:ext cx="370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300" b="1" dirty="0">
                <a:solidFill>
                  <a:srgbClr val="FFFFFF"/>
                </a:solidFill>
                <a:latin typeface="Calibri" pitchFamily="34" charset="0"/>
              </a:rPr>
              <a:t>Global Mean Pool  →  Embedding h</a:t>
            </a:r>
            <a:endParaRPr lang="it-IT" sz="1300" dirty="0"/>
          </a:p>
        </p:txBody>
      </p:sp>
      <p:sp>
        <p:nvSpPr>
          <p:cNvPr id="21" name="ArrSplit"/>
          <p:cNvSpPr/>
          <p:nvPr/>
        </p:nvSpPr>
        <p:spPr>
          <a:xfrm>
            <a:off x="320000" y="2760000"/>
            <a:ext cx="3700000" cy="2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300" dirty="0">
                <a:solidFill>
                  <a:srgbClr val="1E2761"/>
                </a:solidFill>
                <a:latin typeface="Calibri" pitchFamily="34" charset="0"/>
              </a:rPr>
              <a:t>↙   (h si divide)   ↘</a:t>
            </a:r>
            <a:endParaRPr lang="it-IT" sz="1300" dirty="0"/>
          </a:p>
        </p:txBody>
      </p:sp>
      <p:sp>
        <p:nvSpPr>
          <p:cNvPr id="22" name="BgTask"/>
          <p:cNvSpPr/>
          <p:nvPr/>
        </p:nvSpPr>
        <p:spPr>
          <a:xfrm>
            <a:off x="320000" y="2960000"/>
            <a:ext cx="1790000" cy="420000"/>
          </a:xfrm>
          <a:prstGeom prst="rect">
            <a:avLst/>
          </a:prstGeom>
          <a:solidFill>
            <a:srgbClr val="1E7E34"/>
          </a:solidFill>
          <a:ln w="25400">
            <a:solidFill>
              <a:srgbClr val="27AE60"/>
            </a:solidFill>
            <a:prstDash val="solid"/>
          </a:ln>
        </p:spPr>
      </p:sp>
      <p:sp>
        <p:nvSpPr>
          <p:cNvPr id="23" name="TxtTask"/>
          <p:cNvSpPr/>
          <p:nvPr/>
        </p:nvSpPr>
        <p:spPr>
          <a:xfrm>
            <a:off x="320000" y="2960000"/>
            <a:ext cx="1790000" cy="4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200" b="1" dirty="0">
                <a:solidFill>
                  <a:srgbClr val="FFFFFF"/>
                </a:solidFill>
                <a:latin typeface="Calibri" pitchFamily="34" charset="0"/>
              </a:rPr>
              <a:t>Task Classifier</a:t>
            </a:r>
            <a:endParaRPr lang="it-IT" sz="1200" dirty="0"/>
          </a:p>
          <a:p>
            <a:pPr algn="ctr" indent="0" marL="0">
              <a:buNone/>
            </a:pPr>
            <a:r>
              <a:rPr lang="it-IT" sz="1100" dirty="0">
                <a:solidFill>
                  <a:srgbClr val="FFFFFF"/>
                </a:solidFill>
                <a:latin typeface="Calibri" pitchFamily="34" charset="0"/>
              </a:rPr>
              <a:t>4 classi → L_task</a:t>
            </a:r>
            <a:endParaRPr lang="it-IT" sz="1100" dirty="0"/>
          </a:p>
        </p:txBody>
      </p:sp>
      <p:sp>
        <p:nvSpPr>
          <p:cNvPr id="24" name="BgGRL"/>
          <p:cNvSpPr/>
          <p:nvPr/>
        </p:nvSpPr>
        <p:spPr>
          <a:xfrm>
            <a:off x="2230000" y="2960000"/>
            <a:ext cx="1790000" cy="420000"/>
          </a:xfrm>
          <a:prstGeom prst="rect">
            <a:avLst/>
          </a:prstGeom>
          <a:solidFill>
            <a:srgbClr val="A93226"/>
          </a:solidFill>
          <a:ln w="25400">
            <a:solidFill>
              <a:srgbClr val="E74C3C"/>
            </a:solidFill>
            <a:prstDash val="solid"/>
          </a:ln>
        </p:spPr>
      </p:sp>
      <p:sp>
        <p:nvSpPr>
          <p:cNvPr id="25" name="TxtGRL"/>
          <p:cNvSpPr/>
          <p:nvPr/>
        </p:nvSpPr>
        <p:spPr>
          <a:xfrm>
            <a:off x="2230000" y="2960000"/>
            <a:ext cx="1790000" cy="4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200" b="1" dirty="0">
                <a:solidFill>
                  <a:srgbClr val="FFFFFF"/>
                </a:solidFill>
                <a:latin typeface="Calibri" pitchFamily="34" charset="0"/>
              </a:rPr>
              <a:t>GRL(α) → Subject Disc.</a:t>
            </a:r>
            <a:endParaRPr lang="it-IT" sz="1200" dirty="0"/>
          </a:p>
          <a:p>
            <a:pPr algn="ctr" indent="0" marL="0">
              <a:buNone/>
            </a:pPr>
            <a:r>
              <a:rPr lang="it-IT" sz="1100" dirty="0">
                <a:solidFill>
                  <a:srgbClr val="FFFFFF"/>
                </a:solidFill>
                <a:latin typeface="Calibri" pitchFamily="34" charset="0"/>
              </a:rPr>
              <a:t>50 soggetti → L_subj</a:t>
            </a:r>
            <a:endParaRPr lang="it-IT" sz="1100" dirty="0"/>
          </a:p>
        </p:txBody>
      </p:sp>
      <p:sp>
        <p:nvSpPr>
          <p:cNvPr id="26" name="ArrMerge"/>
          <p:cNvSpPr/>
          <p:nvPr/>
        </p:nvSpPr>
        <p:spPr>
          <a:xfrm>
            <a:off x="320000" y="3380000"/>
            <a:ext cx="3700000" cy="2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300" dirty="0">
                <a:solidFill>
                  <a:srgbClr val="1E2761"/>
                </a:solidFill>
                <a:latin typeface="Calibri" pitchFamily="34" charset="0"/>
              </a:rPr>
              <a:t>↘   (gradiente unificato)   ↙</a:t>
            </a:r>
            <a:endParaRPr lang="it-IT" sz="1300" dirty="0"/>
          </a:p>
        </p:txBody>
      </p:sp>
      <p:sp>
        <p:nvSpPr>
          <p:cNvPr id="27" name="BgLoss"/>
          <p:cNvSpPr/>
          <p:nvPr/>
        </p:nvSpPr>
        <p:spPr>
          <a:xfrm>
            <a:off x="320000" y="3580000"/>
            <a:ext cx="3700000" cy="380000"/>
          </a:xfrm>
          <a:prstGeom prst="rect">
            <a:avLst/>
          </a:prstGeom>
          <a:solidFill>
            <a:srgbClr val="1E2761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28" name="TxtLoss"/>
          <p:cNvSpPr/>
          <p:nvPr/>
        </p:nvSpPr>
        <p:spPr>
          <a:xfrm>
            <a:off x="320000" y="3580000"/>
            <a:ext cx="370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200" b="1" dirty="0">
                <a:solidFill>
                  <a:srgbClr val="FFFFFF"/>
                </a:solidFill>
                <a:latin typeface="Calibri" pitchFamily="34" charset="0"/>
              </a:rPr>
              <a:t>Loss = L_task + λ·L_subj   (λ=0.5)</a:t>
            </a:r>
            <a:endParaRPr lang="it-IT" sz="1200" dirty="0"/>
          </a:p>
        </p:txBody>
      </p:sp>
      <p:sp>
        <p:nvSpPr>
          <p:cNvPr id="29" name="BgGRLNote"/>
          <p:cNvSpPr/>
          <p:nvPr/>
        </p:nvSpPr>
        <p:spPr>
          <a:xfrm>
            <a:off x="320000" y="4100000"/>
            <a:ext cx="3700000" cy="620000"/>
          </a:xfrm>
          <a:prstGeom prst="rect">
            <a:avLst/>
          </a:prstGeom>
          <a:solidFill>
            <a:srgbClr val="E8F4FD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30" name="TxtGRLNote"/>
          <p:cNvSpPr/>
          <p:nvPr/>
        </p:nvSpPr>
        <p:spPr>
          <a:xfrm>
            <a:off x="440000" y="4160000"/>
            <a:ext cx="3460000" cy="5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it-IT" sz="1100" b="1" dirty="0">
                <a:solidFill>
                  <a:srgbClr val="1E2761"/>
                </a:solidFill>
                <a:latin typeface="Calibri" pitchFamily="34" charset="0"/>
              </a:rPr>
              <a:t>Come funziona il GRL:</a:t>
            </a:r>
            <a:endParaRPr lang="it-IT" sz="1100" dirty="0"/>
          </a:p>
          <a:p>
            <a:pPr algn="l" indent="0" marL="0">
              <a:buNone/>
            </a:pPr>
            <a:r>
              <a:rPr lang="it-IT" sz="1050" dirty="0">
                <a:solidFill>
                  <a:srgbClr val="1E2761"/>
                </a:solidFill>
                <a:latin typeface="Calibri" pitchFamily="34" charset="0"/>
              </a:rPr>
              <a:t>→ Forward: segnale invariato (identità)</a:t>
            </a:r>
            <a:endParaRPr lang="it-IT" sz="1050" dirty="0"/>
          </a:p>
          <a:p>
            <a:pPr algn="l" indent="0" marL="0">
              <a:buNone/>
            </a:pPr>
            <a:r>
              <a:rPr lang="it-IT" sz="1050" dirty="0">
                <a:solidFill>
                  <a:srgbClr val="1E2761"/>
                </a:solidFill>
                <a:latin typeface="Calibri" pitchFamily="34" charset="0"/>
              </a:rPr>
              <a:t>→ Backward: gradiente × (−α) — encoder impara a ingannare il discriminatore</a:t>
            </a:r>
            <a:endParaRPr lang="it-IT" sz="1050" dirty="0"/>
          </a:p>
          <a:p>
            <a:pPr algn="l" indent="0" marL="0">
              <a:buNone/>
            </a:pPr>
            <a:r>
              <a:rPr lang="it-IT" sz="1050" dirty="0">
                <a:solidFill>
                  <a:srgbClr val="1E2761"/>
                </a:solidFill>
                <a:latin typeface="Calibri" pitchFamily="34" charset="0"/>
              </a:rPr>
              <a:t>→ α cresce 0→1 durante il training: GRL inizialmente inattivo, poi forza l'invarianza</a:t>
            </a:r>
            <a:endParaRPr lang="it-IT" sz="1050" dirty="0"/>
          </a:p>
        </p:txBody>
      </p:sp>
      <p:sp>
        <p:nvSpPr>
          <p:cNvPr id="31" name="TblHdr"/>
          <p:cNvSpPr/>
          <p:nvPr/>
        </p:nvSpPr>
        <p:spPr>
          <a:xfrm>
            <a:off x="4300000" y="780000"/>
            <a:ext cx="4600000" cy="380000"/>
          </a:xfrm>
          <a:prstGeom prst="rect">
            <a:avLst/>
          </a:prstGeom>
          <a:solidFill>
            <a:srgbClr val="1E2761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00" name="TblHdrCol0"/>
          <p:cNvSpPr/>
          <p:nvPr/>
        </p:nvSpPr>
        <p:spPr>
          <a:xfrm>
            <a:off x="4380000" y="780000"/>
            <a:ext cx="202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it-IT" sz="1100" b="1" dirty="0">
                <a:solidFill>
                  <a:srgbClr val="FFFFFF"/>
                </a:solidFill>
                <a:latin typeface="Calibri" pitchFamily="34" charset="0"/>
              </a:rPr>
              <a:t>Modello</a:t>
            </a:r>
            <a:endParaRPr lang="it-IT" sz="1100" dirty="0"/>
          </a:p>
        </p:txBody>
      </p:sp>
      <p:sp>
        <p:nvSpPr>
          <p:cNvPr id="201" name="TblHdrCol1"/>
          <p:cNvSpPr/>
          <p:nvPr/>
        </p:nvSpPr>
        <p:spPr>
          <a:xfrm>
            <a:off x="6480000" y="780000"/>
            <a:ext cx="37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b="1" dirty="0">
                <a:solidFill>
                  <a:srgbClr val="FFFFFF"/>
                </a:solidFill>
                <a:latin typeface="Calibri" pitchFamily="34" charset="0"/>
              </a:rPr>
              <a:t>ADV</a:t>
            </a:r>
            <a:endParaRPr lang="it-IT" sz="1100" dirty="0"/>
          </a:p>
        </p:txBody>
      </p:sp>
      <p:sp>
        <p:nvSpPr>
          <p:cNvPr id="202" name="TblHdrCol2"/>
          <p:cNvSpPr/>
          <p:nvPr/>
        </p:nvSpPr>
        <p:spPr>
          <a:xfrm>
            <a:off x="6930000" y="780000"/>
            <a:ext cx="102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b="1" dirty="0">
                <a:solidFill>
                  <a:srgbClr val="FFFFFF"/>
                </a:solidFill>
                <a:latin typeface="Calibri" pitchFamily="34" charset="0"/>
              </a:rPr>
              <a:t>test_bacc</a:t>
            </a:r>
            <a:endParaRPr lang="it-IT" sz="1100" dirty="0"/>
          </a:p>
        </p:txBody>
      </p:sp>
      <p:sp>
        <p:nvSpPr>
          <p:cNvPr id="203" name="TblHdrCol3"/>
          <p:cNvSpPr/>
          <p:nvPr/>
        </p:nvSpPr>
        <p:spPr>
          <a:xfrm>
            <a:off x="8030000" y="780000"/>
            <a:ext cx="87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b="1" dirty="0">
                <a:solidFill>
                  <a:srgbClr val="FFFFFF"/>
                </a:solidFill>
                <a:latin typeface="Calibri" pitchFamily="34" charset="0"/>
              </a:rPr>
              <a:t>epoche</a:t>
            </a:r>
            <a:endParaRPr lang="it-IT" sz="1100" dirty="0"/>
          </a:p>
        </p:txBody>
      </p:sp>
      <p:sp>
        <p:nvSpPr>
          <p:cNvPr id="33" name="TblRowBg0"/>
          <p:cNvSpPr/>
          <p:nvPr/>
        </p:nvSpPr>
        <p:spPr>
          <a:xfrm>
            <a:off x="4300000" y="1160000"/>
            <a:ext cx="4600000" cy="3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blCell0_0"/>
          <p:cNvSpPr/>
          <p:nvPr/>
        </p:nvSpPr>
        <p:spPr>
          <a:xfrm>
            <a:off x="4380000" y="1160000"/>
            <a:ext cx="202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it-IT" sz="1100" dirty="0">
                <a:solidFill>
                  <a:srgbClr val="333333"/>
                </a:solidFill>
                <a:latin typeface="Calibri" pitchFamily="34" charset="0"/>
              </a:rPr>
              <a:t>GAT_2L</a:t>
            </a:r>
            <a:endParaRPr lang="it-IT" sz="1100" dirty="0"/>
          </a:p>
        </p:txBody>
      </p:sp>
      <p:sp>
        <p:nvSpPr>
          <p:cNvPr id="35" name="TblCell0_1"/>
          <p:cNvSpPr/>
          <p:nvPr/>
        </p:nvSpPr>
        <p:spPr>
          <a:xfrm>
            <a:off x="6480000" y="1160000"/>
            <a:ext cx="37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333333"/>
                </a:solidFill>
                <a:latin typeface="Calibri" pitchFamily="34" charset="0"/>
              </a:rPr>
              <a:t>✗</a:t>
            </a:r>
            <a:endParaRPr lang="it-IT" sz="1100" dirty="0"/>
          </a:p>
        </p:txBody>
      </p:sp>
      <p:sp>
        <p:nvSpPr>
          <p:cNvPr id="36" name="TblCell0_2"/>
          <p:cNvSpPr/>
          <p:nvPr/>
        </p:nvSpPr>
        <p:spPr>
          <a:xfrm>
            <a:off x="6930000" y="1160000"/>
            <a:ext cx="102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333333"/>
                </a:solidFill>
                <a:latin typeface="Calibri" pitchFamily="34" charset="0"/>
              </a:rPr>
              <a:t>0.253</a:t>
            </a:r>
            <a:endParaRPr lang="it-IT" sz="1100" dirty="0"/>
          </a:p>
        </p:txBody>
      </p:sp>
      <p:sp>
        <p:nvSpPr>
          <p:cNvPr id="37" name="TblCell0_3"/>
          <p:cNvSpPr/>
          <p:nvPr/>
        </p:nvSpPr>
        <p:spPr>
          <a:xfrm>
            <a:off x="8030000" y="1160000"/>
            <a:ext cx="87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333333"/>
                </a:solidFill>
                <a:latin typeface="Calibri" pitchFamily="34" charset="0"/>
              </a:rPr>
              <a:t>25</a:t>
            </a:r>
            <a:endParaRPr lang="it-IT" sz="1100" dirty="0"/>
          </a:p>
        </p:txBody>
      </p:sp>
      <p:sp>
        <p:nvSpPr>
          <p:cNvPr id="38" name="TblRowBg1"/>
          <p:cNvSpPr/>
          <p:nvPr/>
        </p:nvSpPr>
        <p:spPr>
          <a:xfrm>
            <a:off x="4300000" y="1540000"/>
            <a:ext cx="4600000" cy="380000"/>
          </a:xfrm>
          <a:prstGeom prst="rect">
            <a:avLst/>
          </a:prstGeom>
          <a:solidFill>
            <a:srgbClr val="EEF2FA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9" name="TblCell1_0"/>
          <p:cNvSpPr/>
          <p:nvPr/>
        </p:nvSpPr>
        <p:spPr>
          <a:xfrm>
            <a:off x="4380000" y="1540000"/>
            <a:ext cx="202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it-IT" sz="1100" b="1" dirty="0">
                <a:solidFill>
                  <a:srgbClr val="333333"/>
                </a:solidFill>
                <a:latin typeface="Calibri" pitchFamily="34" charset="0"/>
              </a:rPr>
              <a:t>GAT_2L_ADV ★</a:t>
            </a:r>
            <a:endParaRPr lang="it-IT" sz="1100" dirty="0"/>
          </a:p>
        </p:txBody>
      </p:sp>
      <p:sp>
        <p:nvSpPr>
          <p:cNvPr id="40" name="TblCell1_1"/>
          <p:cNvSpPr/>
          <p:nvPr/>
        </p:nvSpPr>
        <p:spPr>
          <a:xfrm>
            <a:off x="6480000" y="1540000"/>
            <a:ext cx="37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333333"/>
                </a:solidFill>
                <a:latin typeface="Calibri" pitchFamily="34" charset="0"/>
              </a:rPr>
              <a:t>✓</a:t>
            </a:r>
            <a:endParaRPr lang="it-IT" sz="1100" dirty="0"/>
          </a:p>
        </p:txBody>
      </p:sp>
      <p:sp>
        <p:nvSpPr>
          <p:cNvPr id="41" name="TblCell1_2"/>
          <p:cNvSpPr/>
          <p:nvPr/>
        </p:nvSpPr>
        <p:spPr>
          <a:xfrm>
            <a:off x="6930000" y="1540000"/>
            <a:ext cx="102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27AE60"/>
                </a:solidFill>
                <a:latin typeface="Calibri" pitchFamily="34" charset="0"/>
              </a:rPr>
              <a:t>0.254</a:t>
            </a:r>
            <a:endParaRPr lang="it-IT" sz="1100" dirty="0"/>
          </a:p>
        </p:txBody>
      </p:sp>
      <p:sp>
        <p:nvSpPr>
          <p:cNvPr id="42" name="TblCell1_3"/>
          <p:cNvSpPr/>
          <p:nvPr/>
        </p:nvSpPr>
        <p:spPr>
          <a:xfrm>
            <a:off x="8030000" y="1540000"/>
            <a:ext cx="87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333333"/>
                </a:solidFill>
                <a:latin typeface="Calibri" pitchFamily="34" charset="0"/>
              </a:rPr>
              <a:t>45</a:t>
            </a:r>
            <a:endParaRPr lang="it-IT" sz="1100" dirty="0"/>
          </a:p>
        </p:txBody>
      </p:sp>
      <p:sp>
        <p:nvSpPr>
          <p:cNvPr id="43" name="TblRowBg2"/>
          <p:cNvSpPr/>
          <p:nvPr/>
        </p:nvSpPr>
        <p:spPr>
          <a:xfrm>
            <a:off x="4300000" y="1920000"/>
            <a:ext cx="4600000" cy="3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blCell2_0"/>
          <p:cNvSpPr/>
          <p:nvPr/>
        </p:nvSpPr>
        <p:spPr>
          <a:xfrm>
            <a:off x="4380000" y="1920000"/>
            <a:ext cx="202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it-IT" sz="1100" dirty="0">
                <a:solidFill>
                  <a:srgbClr val="333333"/>
                </a:solidFill>
                <a:latin typeface="Calibri" pitchFamily="34" charset="0"/>
              </a:rPr>
              <a:t>GAT_3L_ADV</a:t>
            </a:r>
            <a:endParaRPr lang="it-IT" sz="1100" dirty="0"/>
          </a:p>
        </p:txBody>
      </p:sp>
      <p:sp>
        <p:nvSpPr>
          <p:cNvPr id="45" name="TblCell2_1"/>
          <p:cNvSpPr/>
          <p:nvPr/>
        </p:nvSpPr>
        <p:spPr>
          <a:xfrm>
            <a:off x="6480000" y="1920000"/>
            <a:ext cx="37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333333"/>
                </a:solidFill>
                <a:latin typeface="Calibri" pitchFamily="34" charset="0"/>
              </a:rPr>
              <a:t>✓</a:t>
            </a:r>
            <a:endParaRPr lang="it-IT" sz="1100" dirty="0"/>
          </a:p>
        </p:txBody>
      </p:sp>
      <p:sp>
        <p:nvSpPr>
          <p:cNvPr id="46" name="TblCell2_2"/>
          <p:cNvSpPr/>
          <p:nvPr/>
        </p:nvSpPr>
        <p:spPr>
          <a:xfrm>
            <a:off x="6930000" y="1920000"/>
            <a:ext cx="102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333333"/>
                </a:solidFill>
                <a:latin typeface="Calibri" pitchFamily="34" charset="0"/>
              </a:rPr>
              <a:t>~0.250</a:t>
            </a:r>
            <a:endParaRPr lang="it-IT" sz="1100" dirty="0"/>
          </a:p>
        </p:txBody>
      </p:sp>
      <p:sp>
        <p:nvSpPr>
          <p:cNvPr id="47" name="TblCell2_3"/>
          <p:cNvSpPr/>
          <p:nvPr/>
        </p:nvSpPr>
        <p:spPr>
          <a:xfrm>
            <a:off x="8030000" y="1920000"/>
            <a:ext cx="87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333333"/>
                </a:solidFill>
                <a:latin typeface="Calibri" pitchFamily="34" charset="0"/>
              </a:rPr>
              <a:t>~45</a:t>
            </a:r>
            <a:endParaRPr lang="it-IT" sz="1100" dirty="0"/>
          </a:p>
        </p:txBody>
      </p:sp>
      <p:sp>
        <p:nvSpPr>
          <p:cNvPr id="48" name="TblRowBg3"/>
          <p:cNvSpPr/>
          <p:nvPr/>
        </p:nvSpPr>
        <p:spPr>
          <a:xfrm>
            <a:off x="4300000" y="2300000"/>
            <a:ext cx="4600000" cy="380000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9" name="TblCell3_0"/>
          <p:cNvSpPr/>
          <p:nvPr/>
        </p:nvSpPr>
        <p:spPr>
          <a:xfrm>
            <a:off x="4380000" y="2300000"/>
            <a:ext cx="202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it-IT" sz="1100" dirty="0">
                <a:solidFill>
                  <a:srgbClr val="888888"/>
                </a:solidFill>
                <a:latin typeface="Calibri" pitchFamily="34" charset="0"/>
              </a:rPr>
              <a:t>Chance level</a:t>
            </a:r>
            <a:endParaRPr lang="it-IT" sz="1100" dirty="0"/>
          </a:p>
        </p:txBody>
      </p:sp>
      <p:sp>
        <p:nvSpPr>
          <p:cNvPr id="50" name="TblCell3_1"/>
          <p:cNvSpPr/>
          <p:nvPr/>
        </p:nvSpPr>
        <p:spPr>
          <a:xfrm>
            <a:off x="6480000" y="2300000"/>
            <a:ext cx="37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888888"/>
                </a:solidFill>
                <a:latin typeface="Calibri" pitchFamily="34" charset="0"/>
              </a:rPr>
              <a:t/>
            </a:r>
            <a:endParaRPr lang="it-IT" sz="1100" dirty="0"/>
          </a:p>
        </p:txBody>
      </p:sp>
      <p:sp>
        <p:nvSpPr>
          <p:cNvPr id="51" name="TblCell3_2"/>
          <p:cNvSpPr/>
          <p:nvPr/>
        </p:nvSpPr>
        <p:spPr>
          <a:xfrm>
            <a:off x="6930000" y="2300000"/>
            <a:ext cx="102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888888"/>
                </a:solidFill>
                <a:latin typeface="Calibri" pitchFamily="34" charset="0"/>
              </a:rPr>
              <a:t>0.250</a:t>
            </a:r>
            <a:endParaRPr lang="it-IT" sz="1100" dirty="0"/>
          </a:p>
        </p:txBody>
      </p:sp>
      <p:sp>
        <p:nvSpPr>
          <p:cNvPr id="52" name="TblCell3_3"/>
          <p:cNvSpPr/>
          <p:nvPr/>
        </p:nvSpPr>
        <p:spPr>
          <a:xfrm>
            <a:off x="8030000" y="2300000"/>
            <a:ext cx="87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888888"/>
                </a:solidFill>
                <a:latin typeface="Calibri" pitchFamily="34" charset="0"/>
              </a:rPr>
              <a:t>—</a:t>
            </a:r>
            <a:endParaRPr lang="it-IT" sz="1100" dirty="0"/>
          </a:p>
        </p:txBody>
      </p:sp>
      <p:sp>
        <p:nvSpPr>
          <p:cNvPr id="53" name="BgWarn"/>
          <p:cNvSpPr/>
          <p:nvPr/>
        </p:nvSpPr>
        <p:spPr>
          <a:xfrm>
            <a:off x="4300000" y="2800000"/>
            <a:ext cx="4600000" cy="480000"/>
          </a:xfrm>
          <a:prstGeom prst="rect">
            <a:avLst/>
          </a:prstGeom>
          <a:solidFill>
            <a:srgbClr val="FFF3CD"/>
          </a:solidFill>
          <a:ln w="25400">
            <a:solidFill>
              <a:srgbClr val="F0AD4E"/>
            </a:solidFill>
            <a:prstDash val="solid"/>
          </a:ln>
        </p:spPr>
      </p:sp>
      <p:sp>
        <p:nvSpPr>
          <p:cNvPr id="54" name="TxtWarn"/>
          <p:cNvSpPr/>
          <p:nvPr/>
        </p:nvSpPr>
        <p:spPr>
          <a:xfrm>
            <a:off x="4420000" y="2860000"/>
            <a:ext cx="4360000" cy="36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it-IT" sz="1100" b="1" dirty="0">
                <a:solidFill>
                  <a:srgbClr val="856404"/>
                </a:solidFill>
                <a:latin typeface="Calibri" pitchFamily="34" charset="0"/>
              </a:rPr>
              <a:t>⚠  Diagnosi: underfitting semantico</a:t>
            </a:r>
            <a:endParaRPr lang="it-IT" sz="1100" dirty="0"/>
          </a:p>
          <a:p>
            <a:pPr algn="l" indent="0" marL="0">
              <a:buNone/>
            </a:pPr>
            <a:r>
              <a:rPr lang="it-IT" sz="1050" dirty="0">
                <a:solidFill>
                  <a:srgbClr val="856404"/>
                </a:solidFill>
                <a:latin typeface="Calibri" pitchFamily="34" charset="0"/>
              </a:rPr>
              <a:t>train_acc max 0.32 — nessun gap train/val (il modello non fitta il training set)</a:t>
            </a:r>
            <a:endParaRPr lang="it-IT" sz="1050" dirty="0"/>
          </a:p>
        </p:txBody>
      </p:sp>
      <p:sp>
        <p:nvSpPr>
          <p:cNvPr id="55" name="BgV1V2"/>
          <p:cNvSpPr/>
          <p:nvPr/>
        </p:nvSpPr>
        <p:spPr>
          <a:xfrm>
            <a:off x="4300000" y="3400000"/>
            <a:ext cx="4600000" cy="520000"/>
          </a:xfrm>
          <a:prstGeom prst="rect">
            <a:avLst/>
          </a:prstGeom>
          <a:solidFill>
            <a:srgbClr val="F8D7DA"/>
          </a:solidFill>
          <a:ln w="25400">
            <a:solidFill>
              <a:srgbClr val="E74C3C"/>
            </a:solidFill>
            <a:prstDash val="solid"/>
          </a:ln>
        </p:spPr>
      </p:sp>
      <p:sp>
        <p:nvSpPr>
          <p:cNvPr id="56" name="TxtV1V2"/>
          <p:cNvSpPr/>
          <p:nvPr/>
        </p:nvSpPr>
        <p:spPr>
          <a:xfrm>
            <a:off x="4420000" y="3460000"/>
            <a:ext cx="4360000" cy="4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it-IT" sz="1050" dirty="0">
                <a:solidFill>
                  <a:srgbClr val="721C24"/>
                </a:solidFill>
                <a:latin typeface="Calibri" pitchFamily="34" charset="0"/>
              </a:rPr>
              <a:t>v1: patience=15 → α≈0.38, GRL non efficace (stop troppo presto)</a:t>
            </a:r>
            <a:endParaRPr lang="it-IT" sz="1050" dirty="0"/>
          </a:p>
          <a:p>
            <a:pPr algn="l" indent="0" marL="0">
              <a:buNone/>
            </a:pPr>
            <a:r>
              <a:rPr lang="it-IT" sz="1050" dirty="0">
                <a:solidFill>
                  <a:srgbClr val="721C24"/>
                </a:solidFill>
                <a:latin typeface="Calibri" pitchFamily="34" charset="0"/>
              </a:rPr>
              <a:t>v2: patience=40, λ=0.5 → α→1.0, stesso risultato — segnale semantico ε²=0.03 insufficiente</a:t>
            </a:r>
            <a:endParaRPr lang="it-IT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Contesto: SOTA Imagined Speech Cross-Soggetto (2022–2025)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77240"/>
          <a:ext cx="8778240" cy="3566160"/>
        </p:xfrm>
        <a:graphic>
          <a:graphicData uri="http://schemas.openxmlformats.org/drawingml/2006/table">
            <a:tbl>
              <a:tblPr/>
              <a:tblGrid>
                <a:gridCol w="1920240"/>
                <a:gridCol w="548640"/>
                <a:gridCol w="548640"/>
                <a:gridCol w="640080"/>
                <a:gridCol w="914400"/>
                <a:gridCol w="1097280"/>
                <a:gridCol w="731520"/>
                <a:gridCol w="731520"/>
                <a:gridCol w="73152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Paper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Anno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Sogg.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Classi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End-to-End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Cross-Subj.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Acc.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Chance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Δ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FAST (Jiang et al.)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2025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Sì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Strict LOSO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26.9%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+6.9%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FAST + fine-tuning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2025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Sì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LOSO+FT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34.7%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+14.7%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MRF-EEGNet (Ko et al.)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2025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Sì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Strict LOSO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67.0%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+17%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DHSLP (Li et al.)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2025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n/a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n/a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No (feat.)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Subject-dep.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78.4%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Questo lavoro (EEG_09)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2026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Sì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Strict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ADCFC"/>
                          </a:solidFill>
                        </a:rPr>
                        <a:t>~25%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25%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74C3C"/>
                          </a:solidFill>
                        </a:rPr>
                        <a:t>~0%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82880" y="4480560"/>
            <a:ext cx="8778240" cy="548640"/>
          </a:xfrm>
          <a:prstGeom prst="rect">
            <a:avLst/>
          </a:prstGeom>
          <a:solidFill>
            <a:srgbClr val="FFF3CD"/>
          </a:solidFill>
          <a:ln w="12700">
            <a:solidFill>
              <a:srgbClr val="F0AD4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74320" y="448056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6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Nota: paper con alta accuracy hanno task binari, dataset piccoli (&lt;6 sogg.), o feature engineering — non comparabili direttamente con questo lavoro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Siamo a Chance Level? — 3 Cause Identificate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27432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772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Segnale Semantico Debole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274320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417320"/>
            <a:ext cx="256032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ε²(parola) = 0.03 → solo 3% della varianza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train_acc max 0.32 → underfitting anche in training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overfitting, ma underfitting semantico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777240"/>
            <a:ext cx="2743200" cy="594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46120" y="7772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Grafo Statico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371600"/>
            <a:ext cx="274320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1417320"/>
            <a:ext cx="256032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PCC medio su 1000 trial — non soggetto-specifico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GAT: attention sui pesi, ma archi sempre fissi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grafo dinamico per trial/soggetto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777240"/>
            <a:ext cx="2743200" cy="59436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7772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Limite Dataset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371600"/>
            <a:ext cx="274320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5B8D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1417320"/>
            <a:ext cx="256032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Bomatter 2025 (NeurIPS): servono &gt;200 soggetti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soggetti = limite inferiore per cross-subject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strutturale del dataset, non dell'architettura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Prossimi Passi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280160" cy="12344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22960"/>
            <a:ext cx="1280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737360" y="822960"/>
            <a:ext cx="713232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74520" y="86868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EEG_10: Hypergraph Neural Networks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74520" y="1216152"/>
            <a:ext cx="685800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Iperedge tra 3+ elettrodi: relazioni di ordine superiore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HypergraphConv (PyG) su grafo PCC esteso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Li et al. 2025 (DHSLP), Feng et al. 2019 (HGNN)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240280"/>
            <a:ext cx="1280160" cy="123444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2240280"/>
            <a:ext cx="1280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BREVE TERMINE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737360" y="2240280"/>
            <a:ext cx="713232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67E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74520" y="228600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Miglioramenti Incrementali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874520" y="2633472"/>
            <a:ext cx="685800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Normalization (Bomatter 2024): 1 riga, riduce variabilità ampiezza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Hypergraph dinamico: struttura adattiva per soggetto/trial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GRL su hypergraph: domain adaptation su rappresentazioni ipergrafiche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3657600"/>
            <a:ext cx="1280160" cy="12344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3657600"/>
            <a:ext cx="1280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TERMINE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737360" y="3657600"/>
            <a:ext cx="713232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74520" y="370332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 Avanzate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874520" y="4050792"/>
            <a:ext cx="685800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 learning subject-invariant (CLISA, Shen et al. 2022)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adaptation: fine-tuning su pochi trial del soggetto target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CV per stima statistica robusta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Motivazione: Hypergraph vs Grafo Classico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3931920" cy="457200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772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 Classico (EEG_08/09)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393192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899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325880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 tra coppie di nodi (elettrodi)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Cattura correlazione bilaterale F3↔F4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modella interazioni di gruppo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Es.: F3-F4 connessi, ma non F3-F4-Fz insieme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37760" y="777240"/>
            <a:ext cx="393192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7772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Hypergraph (EEG_10)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937760" y="1234440"/>
            <a:ext cx="393192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1325880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Iperedge connette 3+ nodi simultaneamente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Cattura correlazioni di ordine superiore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Modella reti neurali funzionali (DMN, frontale, temporale)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Es.: iperedge {F3, F4, Fz, FCz} come unità funzionale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06240" y="219456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74320" y="4663440"/>
            <a:ext cx="8595360" cy="384048"/>
          </a:xfrm>
          <a:prstGeom prst="rect">
            <a:avLst/>
          </a:prstGeom>
          <a:solidFill>
            <a:srgbClr val="CADCFC">
              <a:alpha val="70000"/>
            </a:srgbClr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4663440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DHSLP (Li et al. 2025): 78% su imagined speech con hypergraph — dimostra che ordine superiore cattura qualcosa che i grafi classici non vedono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Domanda di Ricerca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8046720" cy="1325880"/>
          </a:xfrm>
          <a:prstGeom prst="rect">
            <a:avLst/>
          </a:prstGeom>
          <a:solidFill>
            <a:srgbClr val="CADCFC">
              <a:alpha val="20000"/>
            </a:srgbClr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7863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"Le Hypergraph Neural Networks riescono a estrarre rappresentazioni semantiche dall'EEG che i grafi classici non vedono?"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8046720" cy="658368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514600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 iperedge catturano pattern di reti cerebrali funzionali (DMN, frontale, temporale)?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8046720" cy="658368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337560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La domain adaptation su rappresentazioni ipergrafiche è più efficace?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8046720" cy="658368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4160520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Qual è il limite raggiungibile con 70 soggetti in strict cross-subject?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60120"/>
            <a:ext cx="41148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960120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esplorativa: identificato quantitativamente il bottleneck (ε²=0.85 soggetto)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18488"/>
            <a:ext cx="41148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18488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1618488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Progressione sistematica: ML → DL → GCN → GAT+adversarial — ogni step documenta perché fallisce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76856"/>
            <a:ext cx="41148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276856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2276856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onesto: strict cross-subject end-to-end su 70 soggetti è problema aperto in letteratura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35224"/>
            <a:ext cx="41148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935224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60120" y="2935224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SOTA: FAST 2025 (57 soggetti) ottiene solo +6.9% su chance senza fine-tuning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593592"/>
            <a:ext cx="41148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593592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593592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Prossimo step: EEG_10 Hypergraph — obiettivo 27–30% test_bacc stabile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297680"/>
            <a:ext cx="8229600" cy="685800"/>
          </a:xfrm>
          <a:prstGeom prst="rect">
            <a:avLst/>
          </a:prstGeom>
          <a:solidFill>
            <a:srgbClr val="CADCFC">
              <a:alpha val="80000"/>
            </a:srgbClr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29768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 atteso: primo studio sistematico con Hypergraph end-to-end su imagined speech in strict cross-subject evaluation (70 soggetti)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Stato dei Lavori — Aprile 2026</dc:title>
  <dc:subject>PptxGenJS Presentation</dc:subject>
  <dc:creator>Daniele Uras</dc:creator>
  <cp:lastModifiedBy>Daniele Uras</cp:lastModifiedBy>
  <cp:revision>1</cp:revision>
  <dcterms:created xsi:type="dcterms:W3CDTF">2026-04-12T17:16:48Z</dcterms:created>
  <dcterms:modified xsi:type="dcterms:W3CDTF">2026-04-12T17:16:48Z</dcterms:modified>
</cp:coreProperties>
</file>