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13716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457200"/>
            <a:ext cx="109728" cy="16459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50292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dell'Imagined Speech da EEG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Graph Neural Networks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dei Lavori — Aprile 2026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Daniele Uras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Politecnico di Milano — DEIB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0" y="274320"/>
            <a:ext cx="1554480" cy="640080"/>
          </a:xfrm>
          <a:prstGeom prst="rect">
            <a:avLst/>
          </a:prstGeom>
          <a:solidFill>
            <a:srgbClr val="CADCFC">
              <a:alpha val="3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27432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Magistrale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 della Tesi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Costruire un dizionario neurale semantico che mappi pattern EEG a categorie concettuali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segnale EEG grezzo — 59 canali, 256 Hz, ~1.5s per trial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categoria semantica della parola immaginata (4 classi)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Approccio: Graph Neural Networks end-to-end su segnale raw — no feature engineering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70 soggetti, 110 parole, ~220 epoche/sessione, 5 sessioni/soggetto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0" y="914400"/>
            <a:ext cx="2286000" cy="3474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0" y="9144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SEMANTICHE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12280" y="1691640"/>
            <a:ext cx="182880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1691640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12280" y="2313432"/>
            <a:ext cx="1828800" cy="475488"/>
          </a:xfrm>
          <a:prstGeom prst="rect">
            <a:avLst/>
          </a:prstGeom>
          <a:solidFill>
            <a:srgbClr val="7EB8F7"/>
          </a:solidFill>
          <a:ln w="12700">
            <a:solidFill>
              <a:srgbClr val="7EB8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0" y="2313432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AZIONE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12280" y="2935224"/>
            <a:ext cx="1828800" cy="475488"/>
          </a:xfrm>
          <a:prstGeom prst="rect">
            <a:avLst/>
          </a:prstGeom>
          <a:solidFill>
            <a:srgbClr val="A0C4FF"/>
          </a:solidFill>
          <a:ln w="12700">
            <a:solidFill>
              <a:srgbClr val="A0C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293522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solidFill>
            <a:srgbClr val="BDD5F8"/>
          </a:solidFill>
          <a:ln w="12700">
            <a:solidFill>
              <a:srgbClr val="BDD5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2280" y="3557016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ASTRATTO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 Centrale: Dominanza Inter-Soggetto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3840480" cy="3474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della Varianza (ANOVA)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ε²(soggetto) = 0.85 → 85% varianza EEG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ε²(parola)   = 0.03 → 3% varianza EEG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ε²(sessione) = 0.01 → trascurabile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2029968"/>
            <a:ext cx="640080" cy="139903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Soggetto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00200" y="3379622"/>
            <a:ext cx="640080" cy="4937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606040" y="3383280"/>
            <a:ext cx="640080" cy="4572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344728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0" y="868680"/>
            <a:ext cx="4206240" cy="347472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8686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Implicazione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09160" y="141732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modelli imparano a classificare il SOGGETTO, non la parola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Setting: strict subject-independent</a:t>
            </a:r>
            <a:endParaRPr lang="en-US" sz="13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Train: soggetti 0–49 | Val: 50–59 | Test: 60–73 (mai visti)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level: 25% (4 classi)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più rigoroso possibile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dei Dati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 Raw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46304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59ch × 384 camp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concr4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8056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1500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32320" y="1805940"/>
            <a:ext cx="1828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0" y="1371600"/>
            <a:ext cx="1234440" cy="868680"/>
          </a:xfrm>
          <a:prstGeom prst="rect">
            <a:avLst/>
          </a:prstGeom>
          <a:solidFill>
            <a:srgbClr val="1E2761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1371600"/>
            <a:ext cx="1234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Predizione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8229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sul Pipeline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154680"/>
            <a:ext cx="78638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concr4: CONCRETO / AZIONE / STATO / ASTRATTO (4 classi bilanciate)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soggetti: train 0–49 (50 sogg.) | val 50–59 (10 sogg.) | test 60–73 (14 sogg.)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Metrica principale: Balanced Accuracy (bacc) — immune allo sbilanciamento classi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Sperimentale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595360" cy="402336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2011680"/>
                <a:gridCol w="2834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NOTEBOOK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RISULTATO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CONCLUSIONE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EEG_00/01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Analisi esplorativa + ANOVA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ε²(sogg)=0.85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Problema nei dati, non nel modello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EEG_05/07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EEGNet, Conformer, Braindecode (5-fold CV)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25.0% ± 0.001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DL standard: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EEG_08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ChebGCN + Grafo PCC k-NN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0.255 (1.02×)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Grafo statico: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EEG_09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GAT + Domain Adversarial (GRL)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test_bacc = 0.254 (1.02×)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Adversarial: chance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EEG_10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Hypergraph Neural Networks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</a:rPr>
                        <a:t>prossimo step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Relazioni ordine superiore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EEG_08 — TemporalChebGCN (Lun et al. 2022, GCNs-Net)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36576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59 nodi × 384 campioni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36576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Encoder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 per-nodo → 64-dim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3657600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3774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PCC k-NN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(k=6, 420 archi)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97180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154680"/>
            <a:ext cx="36576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3154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ChebConv(K=2) ×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749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931920"/>
            <a:ext cx="36576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9319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Mean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MLP → 4 classi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822960"/>
          <a:ext cx="4206240" cy="22860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test_bacc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ChebGCN_2L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0.249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ChebGCN_3L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ChebGCNSkip ★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085"/>
                          </a:solidFill>
                        </a:rPr>
                        <a:t>0.255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888888"/>
                          </a:solidFill>
                        </a:rPr>
                        <a:t>Chance level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888888"/>
                          </a:solidFill>
                        </a:rPr>
                        <a:t>0.250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572000" y="3291840"/>
            <a:ext cx="4206240" cy="73152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32918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Class collapse su STATO (~68% predizioni)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Riferimento: Lun et al. 2022 — GCNs-Net (Temporal GCN per EEG)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EEG_09 — Domain Adversarial GAT (DAGAM, Xu et al. 2023)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554480" y="960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45920" y="96012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960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Encoder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0" y="960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960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GATConv 8-head × 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0" y="9601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0" y="960120"/>
            <a:ext cx="1097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9601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Mean Pool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0" y="1554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[Embedding h]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03120"/>
            <a:ext cx="164592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031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Classifier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classi — L_task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0" y="2103120"/>
            <a:ext cx="1645920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0" y="21031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GRL(α) → Subject Disc.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soggetti — L_subj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06240" y="2880360"/>
            <a:ext cx="2560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28803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= L_task + λ·L_subj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74720"/>
          <a:ext cx="8412480" cy="141732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1645920"/>
                <a:gridCol w="128016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Modello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ADV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test_bacc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epochs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GAT_2L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0.253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GAT_2L_ADV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085"/>
                          </a:solidFill>
                        </a:rPr>
                        <a:t>✓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085"/>
                          </a:solidFill>
                        </a:rPr>
                        <a:t>0.254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GAT_3L_ADV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~0.250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40+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888888"/>
                          </a:solidFill>
                        </a:rPr>
                        <a:t>Chance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888888"/>
                          </a:solidFill>
                        </a:rPr>
                        <a:t>0.250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train_acc max 0.32 — underfitting semantico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Contesto: SOTA Imagined Speech Cross-Soggetto (2022–2025)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77240"/>
          <a:ext cx="8778240" cy="3566160"/>
        </p:xfrm>
        <a:graphic>
          <a:graphicData uri="http://schemas.openxmlformats.org/drawingml/2006/table">
            <a:tbl>
              <a:tblPr/>
              <a:tblGrid>
                <a:gridCol w="2103120"/>
                <a:gridCol w="548640"/>
                <a:gridCol w="548640"/>
                <a:gridCol w="640080"/>
                <a:gridCol w="914400"/>
                <a:gridCol w="1097280"/>
                <a:gridCol w="731520"/>
                <a:gridCol w="731520"/>
                <a:gridCol w="5486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Paper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Anno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Sogg.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Classi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End-to-End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Cross-Subj.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Acc.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Chance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FAST (Jiang et al.)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Strict LOSO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26.9%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+6.9%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FAST + fine-tuning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LOSO+FT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34.7%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+14.7%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MRF-EEGNet (Ko et al.)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Sì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Strict LOSO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67.0%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50%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+17%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DHSLP (Li et al.)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2025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n/a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 (feat.)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Subject-dep.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78.4%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Questo lavoro (EEG_09)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2026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Sì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Strict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ADCFC"/>
                          </a:solidFill>
                        </a:rPr>
                        <a:t>~25%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74C3C"/>
                          </a:solidFill>
                        </a:rPr>
                        <a:t>~0%</a:t>
                      </a:r>
                      <a:endParaRPr lang="en-US" sz="10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82880" y="4480560"/>
            <a:ext cx="877824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0AD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74320" y="448056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6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paper con alta accuracy hanno task binari, dataset piccoli (&lt;6 sogg.), o feature engineering — non comparabili direttamente con questo lavoro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Siamo a Chance Level? — 3 Cause Identificate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274320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Segnale Semantico Debole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ε²(parola) = 0.03 → solo 3% della varianza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train_acc max 0.32 → underfitting anche in training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overfitting, ma underfitting semantico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777240"/>
            <a:ext cx="2743200" cy="5943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Grafo Statico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75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PCC medio su 1000 trial — non soggetto-specifico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GAT: attention sui pesi, ma archi sempre fissi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grafo dinamico per trial/soggetto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777240"/>
            <a:ext cx="2743200" cy="59436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7772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Limite Dataset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5B8D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1417320"/>
            <a:ext cx="256032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Bomatter 2025 (NeurIPS): servono &gt;200 soggetti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soggetti = limite inferiore per cross-subject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strutturale del dataset, non dell'architettura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Prossimi Passi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280160" cy="12344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737360" y="82296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86868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EEG_10: Hypergraph Neural Networks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74520" y="121615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Iperedge tra 3+ elettrodi: relazioni di ordine superiore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HypergraphConv (PyG) su grafo PCC esteso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Li et al. 2025 (DHSLP), Feng et al. 2019 (HGNN)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240280"/>
            <a:ext cx="1280160" cy="123444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24028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BREVE TERMINE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37360" y="224028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74520" y="22860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Miglioramenti Incrementali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74520" y="263347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Normalization (Bomatter 2024): 1 riga, riduce variabilità ampiezza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dinamico: struttura adattiva per soggetto/trial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GRL su hypergraph: domain adaptation su rappresentazioni ipergrafiche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657600"/>
            <a:ext cx="1280160" cy="123444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657600"/>
            <a:ext cx="1280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 TERMINE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737360" y="3657600"/>
            <a:ext cx="713232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74520" y="370332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 Avanzate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74520" y="4050792"/>
            <a:ext cx="685800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learning subject-invariant (CLISA, Shen et al. 2022)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adaptation: fine-tuning su pochi trial del soggetto target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per stima statistica robusta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Motivazione: Hypergraph vs Grafo Classico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3931920" cy="45720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77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Classico (EEG_08/09)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234440"/>
            <a:ext cx="393192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8899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32588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 tra coppie di nodi (elettrodi)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correlazione bilaterale F3↔F4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modella interazioni di gruppo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Es.: F3-F4 connessi, ma non F3-F4-Fz insieme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37760" y="777240"/>
            <a:ext cx="39319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7772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Hypergraph (EEG_10)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37760" y="1234440"/>
            <a:ext cx="393192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132588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Iperedge connette 3+ nodi simultaneamente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Cattura correlazioni di ordine superiore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Modella reti neurali funzionali (DMN, frontale, temporale)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Es.: iperedge {F3, F4, Fz, FCz} come unità funzionale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219456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solidFill>
            <a:srgbClr val="CADCFC">
              <a:alpha val="70000"/>
            </a:srgbClr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DHSLP (Li et al. 2025): 78% su imagined speech con hypergraph — dimostra che ordine superiore cattura qualcosa che i grafi classici non vedono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di Ricerca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1325880"/>
          </a:xfrm>
          <a:prstGeom prst="rect">
            <a:avLst/>
          </a:prstGeom>
          <a:solidFill>
            <a:srgbClr val="CADCFC">
              <a:alpha val="20000"/>
            </a:srgbClr>
          </a:solidFill>
          <a:ln w="254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"Le Hypergraph Neural Networks riescono a estrarre rappresentazioni semantiche dall'EEG che i grafi classici non vedono?"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51460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iperedge catturano pattern di reti cerebrali funzionali (DMN, frontale, temporale)?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3756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domain adaptation su rappresentazioni ipergrafiche è più efficace?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8046720" cy="658368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16052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Qual è il limite raggiungibile con 70 soggetti in strict cross-subject?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960120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esplorativa: identificato quantitativamente il bottleneck (ε²=0.85 soggetto)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18488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18488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618488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Progressione sistematica: ML → DL → GCN → GAT+adversarial — ogni step documenta perché fallisce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76856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76856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276856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onesto: strict cross-subject end-to-end su 70 soggetti è problema aperto in letteratura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35224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935224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2935224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SOTA: FAST 2025 (57 soggetti) ottiene solo +6.9% su chance senza fine-tuning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93592"/>
            <a:ext cx="411480" cy="4754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593592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593592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Prossimo step: EEG_10 Hypergraph — obiettivo 27–30% test_bacc stabile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297680"/>
            <a:ext cx="8229600" cy="685800"/>
          </a:xfrm>
          <a:prstGeom prst="rect">
            <a:avLst/>
          </a:prstGeom>
          <a:solidFill>
            <a:srgbClr val="CADCFC">
              <a:alpha val="80000"/>
            </a:srgbClr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2976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 atteso: primo studio sistematico con Hypergraph end-to-end su imagined speech in strict cross-subject evaluation (70 soggetti)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Stato dei Lavori — Aprile 2026</dc:title>
  <dc:subject>PptxGenJS Presentation</dc:subject>
  <dc:creator>Daniele Uras</dc:creator>
  <cp:lastModifiedBy>Daniele Uras</cp:lastModifiedBy>
  <cp:revision>1</cp:revision>
  <dcterms:created xsi:type="dcterms:W3CDTF">2026-04-12T17:16:48Z</dcterms:created>
  <dcterms:modified xsi:type="dcterms:W3CDTF">2026-04-12T17:16:48Z</dcterms:modified>
</cp:coreProperties>
</file>