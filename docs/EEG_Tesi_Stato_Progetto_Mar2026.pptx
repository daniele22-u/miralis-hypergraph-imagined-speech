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Politecnico di Milano — DEIB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 dell'Imagined Speech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Segnali EEG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 Graph Neural Networks e Hypergraph Learning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4572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290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Daniele Uras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Tesi Magistrale — 2025/2026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Marzo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0" y="1828800"/>
            <a:ext cx="1645920" cy="1645920"/>
          </a:xfrm>
          <a:prstGeom prst="ellipse">
            <a:avLst/>
          </a:prstGeom>
          <a:solidFill>
            <a:srgbClr val="00A896">
              <a:alpha val="20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della Tesi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Task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Classificare parole immaginate (imagined speech)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dall'attività cerebrale EEG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parole italiane → 4-6 categorie semantiche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soggetti, 5 sessioni, 59 canali, 256 Hz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Approccio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60020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5727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Segnale EEG grezzo come input (end-to-end)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24028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2212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 per struttura spaziale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288036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2852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Hypergraph Learning per relazioni di ordine superiore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352044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3493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Approccio subject-independent (generalizzazione)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841248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84048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finale: un dizionario neurale semantico — mappatura EEG → categoria concettuale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EEG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5603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247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Soggetti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5603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247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Parole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051560"/>
            <a:ext cx="25603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1247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3504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Canali EEG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25603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4048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Hz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6576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Sample Rate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331720"/>
            <a:ext cx="25603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24048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0040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Durata Epoca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2331720"/>
            <a:ext cx="25603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24048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03504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Sessioni/Sogg.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Format: HDF5 preprocessati → tensori PyTorch (59 × 384) per trial | Canali: A1/A2 esclusi (riferimento)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del Progetto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55448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1463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Dati grezzi preprocessati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(MATLAB/EEGLAB)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74520" y="2697480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109728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1097280"/>
            <a:ext cx="155448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097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11680" y="1691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57400" y="2148840"/>
            <a:ext cx="1463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EEG_02: tensori (59×384)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 ogni trial/soggetto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11880" y="2697480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109728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1097280"/>
            <a:ext cx="155448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097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49040" y="1691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94760" y="2148840"/>
            <a:ext cx="1463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EEG_00: schemi clustering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110 parole → 4-6 classi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49240" y="2697480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109728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1097280"/>
            <a:ext cx="155448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097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0" y="1691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32120" y="2148840"/>
            <a:ext cx="1463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EEGNet, Conformer, GNN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end-to-end su segnale raw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86600" y="2697480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109728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23760" y="1097280"/>
            <a:ext cx="155448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1097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223760" y="1691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69480" y="2148840"/>
            <a:ext cx="1463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TensorBoard: accuracy,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balanced acc, loss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Tutti i passi sono riproducibili: paths portabili, configs/ git-tracked, environment YAMLs Linux/macOS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CRITICO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variabilità inter-soggetto domina il segnale EEG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2651760" cy="283464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9202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ε² = 0.85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Soggetto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017520"/>
            <a:ext cx="1737360" cy="27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15468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L'85% della varianza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 segnale è spiegato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dall'identità del soggetto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828800"/>
            <a:ext cx="2651760" cy="283464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9202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ε² = 0.03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46120" y="2651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Parola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03320" y="3017520"/>
            <a:ext cx="1737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15468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Solo il 3% della varianza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è legato alla parola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immaginata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51760" cy="283464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9202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0.001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26480" y="2651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RSA cross-subj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3017520"/>
            <a:ext cx="1737360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315468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Correlazione tra matriche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RDM soggetti diversi: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nessuna struttura comune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Conclusione: i trial si raggruppano per soggetto, non per parola. Ogni modello deve affrontare il domain shift inter-soggetto.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Schemi di Clustering — Riduzione del Task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Word-Based (affidabili)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361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k=4 | imb: 2.4x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74520" y="1536192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CONCR/AZIONE/STATO/ASTRATTO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(Binder 2011)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114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677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578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k=4 | imb: 1.8x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74520" y="2267712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VOC/LAB/COR/DOR onset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(Cooney 2020)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14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99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3101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k=5 | imb: 4.8x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74520" y="2999232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Substrati neurali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(limbico, motorio...)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703320"/>
            <a:ext cx="4114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307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ward4/5/6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041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k=4-6 | imb: 3-34x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74520" y="3730752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Ward gerarchico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 SBERT embeddings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EEG-Based (instabili)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15544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eeg_4, eeg_5, eeg_z4, eeg_z5, eeg_hdb2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ARI cross-soggetto ≈ 0 — i cluster dipendono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dal soggetto specifico, non dalle parole.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Silhouette nello spazio EEG ≈ 0.10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(solo marginalmente sopra chance)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RSA r = 0.001 → nessuna struttura comune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 soggetti diversi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classificazione usa SOLO schemi word-based come target — label stabili e neuroscientificamente motivate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Modelli Vettoriali e GNN (Feature-Based)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1005840"/>
            <a:ext cx="17373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005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Rappresentazione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005840"/>
            <a:ext cx="12801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1005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005840"/>
            <a:ext cx="13716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1005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Subj-Spec.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1005840"/>
            <a:ext cx="13716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1005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Subj-Indep.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463040"/>
            <a:ext cx="1920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4630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1463040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146304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 (media canali)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1463040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14630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(40,)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1463040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146304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1463040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146304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1901952"/>
            <a:ext cx="1920240" cy="420624"/>
          </a:xfrm>
          <a:prstGeom prst="rect">
            <a:avLst/>
          </a:prstGeom>
          <a:solidFill>
            <a:srgbClr val="EEF3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190195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0" y="1901952"/>
            <a:ext cx="1737360" cy="420624"/>
          </a:xfrm>
          <a:prstGeom prst="rect">
            <a:avLst/>
          </a:prstGeom>
          <a:solidFill>
            <a:srgbClr val="EEF3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190195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 (media canali)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0" y="1901952"/>
            <a:ext cx="1280160" cy="420624"/>
          </a:xfrm>
          <a:prstGeom prst="rect">
            <a:avLst/>
          </a:prstGeom>
          <a:solidFill>
            <a:srgbClr val="EEF3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190195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(40,)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0" y="1901952"/>
            <a:ext cx="1371600" cy="420624"/>
          </a:xfrm>
          <a:prstGeom prst="rect">
            <a:avLst/>
          </a:prstGeom>
          <a:solidFill>
            <a:srgbClr val="EEF3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190195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~Chance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49440" y="1901952"/>
            <a:ext cx="1371600" cy="420624"/>
          </a:xfrm>
          <a:prstGeom prst="rect">
            <a:avLst/>
          </a:prstGeom>
          <a:solidFill>
            <a:srgbClr val="EEF3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190195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~Chance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2340864"/>
            <a:ext cx="1920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34086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0" y="2340864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31720" y="23408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flattened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14800" y="2340864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234086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(2.360,)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0" y="2340864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23408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~Chance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49440" y="2340864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95160" y="23408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~Chance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2779776"/>
            <a:ext cx="1920240" cy="420624"/>
          </a:xfrm>
          <a:prstGeom prst="rect">
            <a:avLst/>
          </a:prstGeom>
          <a:solidFill>
            <a:srgbClr val="EEF3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27797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286000" y="2779776"/>
            <a:ext cx="1737360" cy="420624"/>
          </a:xfrm>
          <a:prstGeom prst="rect">
            <a:avLst/>
          </a:prstGeom>
          <a:solidFill>
            <a:srgbClr val="EEF3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2779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Time-resolved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114800" y="2779776"/>
            <a:ext cx="1280160" cy="420624"/>
          </a:xfrm>
          <a:prstGeom prst="rect">
            <a:avLst/>
          </a:prstGeom>
          <a:solidFill>
            <a:srgbClr val="EEF3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60520" y="277977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(11.800,)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0" y="2779776"/>
            <a:ext cx="1371600" cy="420624"/>
          </a:xfrm>
          <a:prstGeom prst="rect">
            <a:avLst/>
          </a:prstGeom>
          <a:solidFill>
            <a:srgbClr val="EEF3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32120" y="277977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~Chance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949440" y="2779776"/>
            <a:ext cx="1371600" cy="420624"/>
          </a:xfrm>
          <a:prstGeom prst="rect">
            <a:avLst/>
          </a:prstGeom>
          <a:solidFill>
            <a:srgbClr val="EEF3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95160" y="277977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~Chance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3218688"/>
            <a:ext cx="1920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21868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Statico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286000" y="3218688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31720" y="321868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k-NN spaziale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114800" y="3218688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60520" y="32186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nodi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486400" y="3218688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321868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~Chance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949440" y="3218688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95160" y="321868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~Chance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74320" y="3657600"/>
            <a:ext cx="1920240" cy="420624"/>
          </a:xfrm>
          <a:prstGeom prst="rect">
            <a:avLst/>
          </a:prstGeom>
          <a:solidFill>
            <a:srgbClr val="EEF3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36576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Adattivo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286000" y="3657600"/>
            <a:ext cx="1737360" cy="420624"/>
          </a:xfrm>
          <a:prstGeom prst="rect">
            <a:avLst/>
          </a:prstGeom>
          <a:solidFill>
            <a:srgbClr val="EEF3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31720" y="36576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Feature-Similarity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114800" y="3657600"/>
            <a:ext cx="1280160" cy="420624"/>
          </a:xfrm>
          <a:prstGeom prst="rect">
            <a:avLst/>
          </a:prstGeom>
          <a:solidFill>
            <a:srgbClr val="EEF3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60520" y="365760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nodi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486400" y="3657600"/>
            <a:ext cx="1371600" cy="420624"/>
          </a:xfrm>
          <a:prstGeom prst="rect">
            <a:avLst/>
          </a:prstGeom>
          <a:solidFill>
            <a:srgbClr val="EEF3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32120" y="36576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~2x Chance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949440" y="3657600"/>
            <a:ext cx="1371600" cy="420624"/>
          </a:xfrm>
          <a:prstGeom prst="rect">
            <a:avLst/>
          </a:prstGeom>
          <a:solidFill>
            <a:srgbClr val="EEF3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95160" y="36576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~Chance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Insight: i grafi adattivi (feature-similarity) catturano struttura intra-soggetto (~2x chance) ma non generalizzano cross-soggetto.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End-to-End su Segnale EEG Grezzo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1371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
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(59 × 384)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trial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Hz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005840"/>
            <a:ext cx="196596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0" y="1005840"/>
            <a:ext cx="73152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0048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70048" y="14173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Compact CNN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Depthwise conv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196596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73152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ShallowFBCSP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18888" y="14173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Filterbank +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Spatial filter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0" y="1005840"/>
            <a:ext cx="196596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0" y="1005840"/>
            <a:ext cx="73152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67728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Deep4Net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67728" y="14173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 CNN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Multi-scale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0" y="1965960"/>
            <a:ext cx="196596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0" y="1965960"/>
            <a:ext cx="73152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0048" y="2011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EEGConformer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70048" y="23774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CNN + Transformer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Self-attention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1965960"/>
            <a:ext cx="196596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965960"/>
            <a:ext cx="73152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2011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ATCNet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18888" y="23774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Attention +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Temporal conv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0" y="1965960"/>
            <a:ext cx="196596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1965960"/>
            <a:ext cx="73152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67728" y="2011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Labram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67728" y="23774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Large brain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 model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EEF3F7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subject-independent: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01-50, val 51-60, test 61-74  | 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attivo: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concr4/phon4 (4 classi, chance 25%)  | 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 (robusta a squilibrio classi)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TensorBoard: runs/sweep_si/ — monitoraggio live loss, accuracy, balanced accuracy per ogni combinazione modello/schema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— Baseline Subject-Independent (EEG_05)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Balanced Accuracy  (tutti i modelli, entrambi gli schemi)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976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0972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Chance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Chance level per 4 classi = 25%  —  ratio ≈ 1.0x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606040"/>
            <a:ext cx="8595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Osservazioni chiave: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curve val_bacc sono piatte dall'inizio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 modelli non imparano rappresentazioni cross-subject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110 classi (chance 0.9%) e 4 classi (chance 25%) sono ugualmente difficili in proporzione — il task non è il bottleneck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EEGConformer: early stopping a epoca 7 (30 min) — val_bacc mai migliorata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Deep4Net: 41 epoche (2.7h) per restare a 0.2503 — il training converge ma non generalizza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INTERPRETAZIONE E PROSSIMO PASSO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tutto è a chance?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come si risolve.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40233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74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33172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normalizzazione globale per-canale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(media/std dal training set) non elimina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il bias per-soggetto.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 soggetti nel test set hanno distribuzioni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 segnale diverse da quelli nel training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→ domain shift.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828800"/>
            <a:ext cx="40233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874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Normalization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233172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Bomatter et al. (2024)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riga di codice in __getitem__: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Normalizza ogni trial individualmente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indipendentemente dal soggetto.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Elimina bias per-trial senza usare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statistiche del training set.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Toggle: USE_INSTANCE_NORM = True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esecuzione su spinlabs01: runs/sweep_si_instNorm/ — risultati attesi a breve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Prossimi Passi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Instance Normalization (Bomatter 2024) — in corso su WSL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20756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Subject-specific baseline con concr4 — validare struttura intra-soggetto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14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41148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5087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Graph Attention Networks (GAT) — struttura spaziale adattiva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00600" y="20756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Sweep schemi: concr4, phon4, sem5 con e senza Instance Norm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41148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Hypergraph Neural Networks (DHSLP/DHSLF — Li et al. 2025)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39502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Target: 78% accuracy cross-subject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4114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26080"/>
            <a:ext cx="41148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383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Domain Adaptation (MMD, CORAL, adversarial)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0600" y="39502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Contrastive Learning subject-invariant (Shen 2022)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ATTUALE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e Stato del Progetto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57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8105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Pipeline EEG completa e riproducibile (EEG_00 → EEG_05)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286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schemi di clustering word-based documentati e git-tracked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79776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7614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modelli DL end-to-end configurati e testati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236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Finding critico: variabilità inter-soggetto (ε²=0.85) è il bottleneck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30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71246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Instance Normalization implementata — in esecuzione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1879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Hypergraph Learning: passo successivo verso la tesi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Daniele Uras — Politecnico di Milano, DEIB — Tesi Magistrale 2025/2026 — Marzo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Decodifica Imagined Speech da EEG con GNN</dc:title>
  <dc:subject>PptxGenJS Presentation</dc:subject>
  <dc:creator>Daniele Uras</dc:creator>
  <cp:lastModifiedBy>Daniele Uras</cp:lastModifiedBy>
  <cp:revision>1</cp:revision>
  <dcterms:created xsi:type="dcterms:W3CDTF">2026-03-20T16:06:08Z</dcterms:created>
  <dcterms:modified xsi:type="dcterms:W3CDTF">2026-03-20T16:06:08Z</dcterms:modified>
</cp:coreProperties>
</file>