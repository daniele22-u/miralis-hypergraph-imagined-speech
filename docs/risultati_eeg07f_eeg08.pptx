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75488"/>
            <a:ext cx="2011680" cy="34747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28 APRILE 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987552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EEG_07f × EEG_08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94360" y="19933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Build  ·  GNN Ablation  ·  Subject Clustering EEG-First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615184"/>
            <a:ext cx="7772400" cy="22860"/>
          </a:xfrm>
          <a:prstGeom prst="rect">
            <a:avLst/>
          </a:prstGeom>
          <a:solidFill>
            <a:srgbClr val="005F70"/>
          </a:solidFill>
          <a:ln w="12700">
            <a:solidFill>
              <a:srgbClr val="005F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6148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Daniele Uras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1821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8CC"/>
                </a:solidFill>
              </a:rPr>
              <a:t>Politecnico di Milano — DEIB  |  Tesi Magistrale 2025–2026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34930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8CC"/>
                </a:solidFill>
              </a:rPr>
              <a:t>Rel. Francesco Trovò  |  Decodifica Imagined Speech con Graph Neural Networks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4224528"/>
            <a:ext cx="8046720" cy="475488"/>
          </a:xfrm>
          <a:prstGeom prst="rect">
            <a:avLst/>
          </a:prstGeom>
          <a:solidFill>
            <a:srgbClr val="0C2030"/>
          </a:solidFill>
          <a:ln w="6350">
            <a:solidFill>
              <a:srgbClr val="1A3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5196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</a:rPr>
              <a:t>Obiettivo: replicare DHSLP/DHSLF (Li et al. 2025) ~78% accuracy su IS con hypergraph dinamico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13816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7A8A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EEG_07f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65960" y="914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&amp; Hypergraph Dataset — 38.883 Trial</a:t>
            </a:r>
            <a:endParaRPr lang="en-US" sz="2200" dirty="0"/>
          </a:p>
        </p:txBody>
      </p:sp>
      <p:pic>
        <p:nvPicPr>
          <p:cNvPr id="6" name="Image 0" descr="/Users/danieleuras/Documents/GitHub/miralis-hypergraph-imagined-speech/.claude/worktrees/elegant-neumann/figures/eeg07f_viz_P000_S001_acqu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04672"/>
            <a:ext cx="3597707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" y="4791456"/>
            <a:ext cx="35977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A5568"/>
                </a:solidFill>
              </a:rPr>
              <a:t>P000_S001 — 'acqua' — 5 metriche × 4 varianti (raw/pruned × grafo/ipergrafo)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164635" y="822960"/>
            <a:ext cx="461360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64635" y="822960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01795" y="868680"/>
            <a:ext cx="44307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5 Metriche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01795" y="1097280"/>
            <a:ext cx="443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PCC · |PCC| · Im-PCC · wPLI · PLV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164635" y="1481328"/>
            <a:ext cx="461360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4635" y="1481328"/>
            <a:ext cx="54864" cy="566928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01795" y="1527048"/>
            <a:ext cx="44307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7D8"/>
                </a:solidFill>
              </a:rPr>
              <a:t>2 Varianti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01795" y="1755648"/>
            <a:ext cx="443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raw (tutte le coppie) + consensus-pruned (≥2/4 metriche)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64635" y="2139696"/>
            <a:ext cx="461360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4635" y="2139696"/>
            <a:ext cx="54864" cy="56692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01795" y="2185416"/>
            <a:ext cx="44307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9E2E"/>
                </a:solidFill>
              </a:rPr>
              <a:t>4 Output/trial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301795" y="2414016"/>
            <a:ext cx="443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grafo raw · grafo pruned · HG raw · HG pruned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64635" y="2798064"/>
            <a:ext cx="461360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64635" y="2798064"/>
            <a:ext cx="54864" cy="56692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01795" y="2843784"/>
            <a:ext cx="44307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Shape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301795" y="3072384"/>
            <a:ext cx="443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x = (61, 384) · adj = (61, 61) · H = (61, 61)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164635" y="3456432"/>
            <a:ext cx="461360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64635" y="3456432"/>
            <a:ext cx="54864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01795" y="3502152"/>
            <a:ext cx="44307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Split soggetti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01795" y="3730752"/>
            <a:ext cx="443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TRAIN 0–49 · VAL 50–59 · TEST 60–73 (subject-indep)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164635" y="4114800"/>
            <a:ext cx="4613605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64635" y="4114800"/>
            <a:ext cx="46136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 .pt per trial — GRAPH CLASSIFICATION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3816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F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EEG_08 §3–7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65960" y="914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Spaziale: Risultati Baseline (PCC, k=6)</a:t>
            </a:r>
            <a:endParaRPr lang="en-US" sz="2200" dirty="0"/>
          </a:p>
        </p:txBody>
      </p:sp>
      <p:pic>
        <p:nvPicPr>
          <p:cNvPr id="6" name="Image 0" descr="/Users/danieleuras/Documents/GitHub/miralis-hypergraph-imagined-speech/.claude/worktrees/elegant-neumann/figures/eeg08_gcn_4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22960"/>
            <a:ext cx="8412480" cy="3226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104705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5568"/>
                </a:solidFill>
              </a:rPr>
              <a:t>ChebGCN 2L/3L/Skip — val &amp; test balanced accuracy. Chance level = 25% (4 classi concr4).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65760" y="4369881"/>
            <a:ext cx="8412480" cy="475488"/>
          </a:xfrm>
          <a:prstGeom prst="rect">
            <a:avLst/>
          </a:prstGeom>
          <a:solidFill>
            <a:srgbClr val="FFF8EE"/>
          </a:solidFill>
          <a:ln w="6350">
            <a:solidFill>
              <a:srgbClr val="F6AD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4369881"/>
            <a:ext cx="54864" cy="47548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4406457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3A00"/>
                </a:solidFill>
              </a:rPr>
              <a:t>ChebGCN 2L: val 25.5% / test 24.8%  ·  3L: 20.5% / 20.8% (collasso)  ·  Skip: 27.9% / 30.3% (miglior bAcc raw). Tutti al limite del chance level.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3816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F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EEG_08 §8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65960" y="914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Completo: 10 Graph Types × 3 Architetture</a:t>
            </a:r>
            <a:endParaRPr lang="en-US" sz="2200" dirty="0"/>
          </a:p>
        </p:txBody>
      </p:sp>
      <p:pic>
        <p:nvPicPr>
          <p:cNvPr id="6" name="Image 0" descr="/Users/danieleuras/Documents/GitHub/miralis-hypergraph-imagined-speech/.claude/worktrees/elegant-neumann/figures/eeg08_heatmap_ba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822960"/>
            <a:ext cx="3931920" cy="22353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0" y="31039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A5568"/>
                </a:solidFill>
              </a:rPr>
              <a:t>Heatmap val bAcc — verde = sopra chance</a:t>
            </a:r>
            <a:endParaRPr lang="en-US" sz="750" dirty="0"/>
          </a:p>
        </p:txBody>
      </p:sp>
      <p:pic>
        <p:nvPicPr>
          <p:cNvPr id="8" name="Image 1" descr="/Users/danieleuras/Documents/GitHub/miralis-hypergraph-imagined-speech/.claude/worktrees/elegant-neumann/figures/eeg08_ablation_graph_metho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85861"/>
            <a:ext cx="4114800" cy="17095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2841095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A5568"/>
                </a:solidFill>
              </a:rPr>
              <a:t>GCN/GAT/DANN × 10 tipi di grafo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65760" y="3378316"/>
            <a:ext cx="8412480" cy="475488"/>
          </a:xfrm>
          <a:prstGeom prst="rect">
            <a:avLst/>
          </a:prstGeom>
          <a:solidFill>
            <a:srgbClr val="FFF8EE"/>
          </a:solidFill>
          <a:ln w="6350">
            <a:solidFill>
              <a:srgbClr val="F6AD5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5760" y="3378316"/>
            <a:ext cx="54864" cy="47548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0352" y="341489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3A00"/>
                </a:solidFill>
              </a:rPr>
              <a:t>Nessun metodo di costruzione del grafo supera il 26.1% val bAcc. Nessuna differenza significativa tra PCC/PLV/wPLI né tra GCN/GAT/DANN. Il grafo spaziale statico non è sufficiente per IS cross-subject.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13816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F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EEG_08 EEG-First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65960" y="914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Discriminabilità IS per Soggetto — Fisher B/W Ratio</a:t>
            </a:r>
            <a:endParaRPr lang="en-US" sz="2200" dirty="0"/>
          </a:p>
        </p:txBody>
      </p:sp>
      <p:pic>
        <p:nvPicPr>
          <p:cNvPr id="6" name="Image 0" descr="/Users/danieleuras/Documents/GitHub/miralis-hypergraph-imagined-speech/.claude/worktrees/elegant-neumann/figures/eeg08_fisher_sc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8229600" cy="20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880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5568"/>
                </a:solidFill>
              </a:rPr>
              <a:t>Fisher ratio B/W per soggetto (74 soggetti) — ordinato per valore decrescente. Mediana = 0.21, IQR = [0.17, 0.24].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65760" y="3172768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317276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32093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0.21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93776" y="35568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Mediana Fisher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0" y="3172768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3172768"/>
            <a:ext cx="54864" cy="658368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28416" y="32093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67D8"/>
                </a:solidFill>
              </a:rPr>
              <a:t>2.5×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328416" y="35568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Range (min→max)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3172768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0" y="3172768"/>
            <a:ext cx="54864" cy="65836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63056" y="32093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AD55"/>
                </a:solidFill>
              </a:rPr>
              <a:t>0.67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163056" y="35568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CV Gamma (max banda)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13816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F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EEG_08 EEG-First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65960" y="914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Potenza Relativa per Banda — 74 Soggetti</a:t>
            </a:r>
            <a:endParaRPr lang="en-US" sz="2200" dirty="0"/>
          </a:p>
        </p:txBody>
      </p:sp>
      <p:pic>
        <p:nvPicPr>
          <p:cNvPr id="6" name="Image 0" descr="/Users/danieleuras/Documents/GitHub/miralis-hypergraph-imagined-speech/.claude/worktrees/elegant-neumann/figures/eeg08_band_power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8229600" cy="22809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158755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5568"/>
                </a:solidFill>
              </a:rPr>
              <a:t>Sinistra: heatmap potenza per banda × soggetto. Centro: distribuzione inter-soggetto. Destra: CV (std/mean) — gamma ha variabilità massima.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65760" y="3451363"/>
            <a:ext cx="25603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3451363"/>
            <a:ext cx="54864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3515371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Delta — CV = 0.30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" y="3780547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Bassa variabilità inter-soggetto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3451363"/>
            <a:ext cx="25603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3451363"/>
            <a:ext cx="54864" cy="640080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28416" y="3515371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7D8"/>
                </a:solidFill>
              </a:rPr>
              <a:t>Alpha — CV = 0.59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28416" y="3780547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Alta variabilità — candidato cluster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5040" y="3451363"/>
            <a:ext cx="25603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0" y="3451363"/>
            <a:ext cx="54864" cy="64008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63056" y="3515371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AD55"/>
                </a:solidFill>
              </a:rPr>
              <a:t>Gamma — CV = 0.67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63056" y="3780547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Massima variabilità — feature top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13816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F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EEG_08 EEG-First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65960" y="914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Soggetti: k=3 Ottimale (Ward + K-Means)</a:t>
            </a:r>
            <a:endParaRPr lang="en-US" sz="2200" dirty="0"/>
          </a:p>
        </p:txBody>
      </p:sp>
      <p:pic>
        <p:nvPicPr>
          <p:cNvPr id="6" name="Image 0" descr="/Users/danieleuras/Documents/GitHub/miralis-hypergraph-imagined-speech/.claude/worktrees/elegant-neumann/figures/eeg08_kmeans_silhou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4160520" cy="13618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23055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A5568"/>
                </a:solidFill>
              </a:rPr>
              <a:t>Silhouette score per k — best k=3 (0.443). Plot k=3: C0 n=35, C1 n=37, C2 n=2.</a:t>
            </a:r>
            <a:endParaRPr lang="en-US" sz="750" dirty="0"/>
          </a:p>
        </p:txBody>
      </p:sp>
      <p:pic>
        <p:nvPicPr>
          <p:cNvPr id="8" name="Image 1" descr="/Users/danieleuras/Documents/GitHub/miralis-hypergraph-imagined-speech/.claude/worktrees/elegant-neumann/figures/eeg08_hierarchical_cluste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22960"/>
            <a:ext cx="4572000" cy="15836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26280" y="2452331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A5568"/>
                </a:solidFill>
              </a:rPr>
              <a:t>Dendrogramma Ward (n=74) — 2 macro-cluster principali. K-Means vs Gerarchico k=3: concordanza quasi perfetta.</a:t>
            </a:r>
            <a:endParaRPr lang="en-US" sz="750" dirty="0"/>
          </a:p>
        </p:txBody>
      </p:sp>
      <p:pic>
        <p:nvPicPr>
          <p:cNvPr id="10" name="Image 2" descr="/Users/danieleuras/Documents/GitHub/miralis-hypergraph-imagined-speech/.claude/worktrees/elegant-neumann/figures/eeg08_cluster_visualiz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35795"/>
            <a:ext cx="8229600" cy="23386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511099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A5568"/>
                </a:solidFill>
              </a:rPr>
              <a:t>PCA 2D · UMAP 2D · Connettività PLV vs Gamma relativo — colorati per cluster K-Means k=3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813816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F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EEG_08 EEG-First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65960" y="914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 dei Cluster (k=2): C0 Alta-IS vs C1 Bassa-IS</a:t>
            </a:r>
            <a:endParaRPr lang="en-US" sz="2200" dirty="0"/>
          </a:p>
        </p:txBody>
      </p:sp>
      <p:pic>
        <p:nvPicPr>
          <p:cNvPr id="6" name="Image 0" descr="/Users/danieleuras/Documents/GitHub/miralis-hypergraph-imagined-speech/.claude/worktrees/elegant-neumann/figures/eeg08_cluster_pro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982" y="804672"/>
            <a:ext cx="6144036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2336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5568"/>
                </a:solidFill>
              </a:rPr>
              <a:t>K-Means k=2. C0 = alta discriminabilità IS (n=29), C1 = bassa IS (n=44). ANOVA su tutte le feature.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65760" y="4498848"/>
            <a:ext cx="25603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4498848"/>
            <a:ext cx="54864" cy="6949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45537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Coer. inter-trial  F=23.20  p=0.000 ***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3776" y="49011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C0 &gt;&gt; C1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4498848"/>
            <a:ext cx="25603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4498848"/>
            <a:ext cx="54864" cy="694944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28416" y="45537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AD55"/>
                </a:solidFill>
              </a:rPr>
              <a:t>Gamma relativo  F=41.19  p=0.000 ***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28416" y="49011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C0 &lt; C1 (inverso!)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5040" y="4498848"/>
            <a:ext cx="25603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0" y="4498848"/>
            <a:ext cx="54864" cy="694944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63056" y="45537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7D8"/>
                </a:solidFill>
              </a:rPr>
              <a:t>Fisher B/W ratio  F=6.82  p=0.011 *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63056" y="49011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C0 &gt; C1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13816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F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EEG_08 Post-Hoc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65960" y="914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Post-Hoc: GNN BAcc vs Cluster EEG</a:t>
            </a:r>
            <a:endParaRPr lang="en-US" sz="2200" dirty="0"/>
          </a:p>
        </p:txBody>
      </p:sp>
      <p:pic>
        <p:nvPicPr>
          <p:cNvPr id="6" name="Image 0" descr="/Users/danieleuras/Documents/GitHub/miralis-hypergraph-imagined-speech/.claude/worktrees/elegant-neumann/figures/eeg08_posthoc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8229600" cy="22671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144931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5568"/>
                </a:solidFill>
              </a:rPr>
              <a:t>Sinistra: GCN bAcc per cluster EEG (n=9 soggetti test). Centro: Fisher ratio vs bAcc. Destra: Gamma vs bAcc.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65760" y="3437539"/>
            <a:ext cx="8412480" cy="566928"/>
          </a:xfrm>
          <a:prstGeom prst="rect">
            <a:avLst/>
          </a:prstGeom>
          <a:solidFill>
            <a:srgbClr val="FEF2F2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3437539"/>
            <a:ext cx="54864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3474115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1D1D"/>
                </a:solidFill>
              </a:rPr>
              <a:t>Risultato: </a:t>
            </a:r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Fisher vs bAcc r=0.026 (p=0.825)  ·  Gamma vs bAcc r=0.096 (p=0.417). </a:t>
            </a:r>
            <a:pPr indent="0" marL="0">
              <a:buNone/>
            </a:pPr>
            <a:r>
              <a:rPr lang="en-US" sz="1050" b="1" dirty="0">
                <a:solidFill>
                  <a:srgbClr val="7F1D1D"/>
                </a:solidFill>
              </a:rPr>
              <a:t>Il GNN non cattura la struttura EEG dei cluster soggetti. </a:t>
            </a:r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I cluster esistono nei dati ma il modello spaziale statico non li rispecchia.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3816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F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&amp; Prossimi Passi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822960"/>
          </a:xfrm>
          <a:prstGeom prst="rect">
            <a:avLst/>
          </a:prstGeom>
          <a:solidFill>
            <a:srgbClr val="0E1E2D"/>
          </a:solidFill>
          <a:ln w="9525">
            <a:solidFill>
              <a:srgbClr val="1A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</a:rPr>
              <a:t>EEG_07f — Dataset Pronto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2710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EC0"/>
                </a:solidFill>
              </a:rPr>
              <a:t>38.883 trial × 5 metriche × 4 varianti (raw/pruned × grafo/ipergrafo). 1 .pt per trial. Split subject-indep confermato senza data leakage.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56232"/>
            <a:ext cx="8503920" cy="822960"/>
          </a:xfrm>
          <a:prstGeom prst="rect">
            <a:avLst/>
          </a:prstGeom>
          <a:solidFill>
            <a:srgbClr val="0E1E2D"/>
          </a:solidFill>
          <a:ln w="9525">
            <a:solidFill>
              <a:srgbClr val="1A3A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56232"/>
            <a:ext cx="64008" cy="822960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56232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7D8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947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7D8"/>
                </a:solidFill>
              </a:rPr>
              <a:t>EEG_08 GNN — Tutti ~Chance (atteso)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2585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EC0"/>
                </a:solidFill>
              </a:rPr>
              <a:t>GCN/GAT/DANN × 10 graph types: nessuno supera 26.1% bAcc (chance = 25%). Il grafo spaziale statico non modella la struttura temporale del segnale EEG.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843784"/>
            <a:ext cx="8503920" cy="822960"/>
          </a:xfrm>
          <a:prstGeom prst="rect">
            <a:avLst/>
          </a:prstGeom>
          <a:solidFill>
            <a:srgbClr val="0E1E2D"/>
          </a:solidFill>
          <a:ln w="9525">
            <a:solidFill>
              <a:srgbClr val="1A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843784"/>
            <a:ext cx="64008" cy="82296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43784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AD55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9352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AD55"/>
                </a:solidFill>
              </a:rPr>
              <a:t>EEG_08 Clustering — 2-3 Cluster Naturali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2461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EC0"/>
                </a:solidFill>
              </a:rPr>
              <a:t>K-Means k=3 (silhouette 0.443). C0 alta-IS vs C1 bassa-IS: differenze significative su gamma (F=41.19***), ITC (F=23.20***), Fisher (F=6.82*).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831336"/>
            <a:ext cx="8503920" cy="822960"/>
          </a:xfrm>
          <a:prstGeom prst="rect">
            <a:avLst/>
          </a:prstGeom>
          <a:solidFill>
            <a:srgbClr val="0E1E2D"/>
          </a:solidFill>
          <a:ln w="9525">
            <a:solidFill>
              <a:srgbClr val="1A3A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831336"/>
            <a:ext cx="64008" cy="8229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31336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E3E"/>
                </a:solidFill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922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3E3E"/>
                </a:solidFill>
              </a:rPr>
              <a:t>Post-Hoc: GNN non rispecchia cluster EEG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42336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EC0"/>
                </a:solidFill>
              </a:rPr>
              <a:t>Fisher vs bAcc r=0.026, Gamma vs bAcc r=0.096 — nessuna correlazione. I cluster sono reali nell'EEG ma il modello spaziale non li coglie.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13816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7A8A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EEG_07f × EEG_08 — Risultati</dc:title>
  <dc:subject>PptxGenJS Presentation</dc:subject>
  <dc:creator>Daniele Uras</dc:creator>
  <cp:lastModifiedBy>Daniele Uras</cp:lastModifiedBy>
  <cp:revision>1</cp:revision>
  <dcterms:created xsi:type="dcterms:W3CDTF">2026-04-28T18:23:27Z</dcterms:created>
  <dcterms:modified xsi:type="dcterms:W3CDTF">2026-04-28T18:23:27Z</dcterms:modified>
</cp:coreProperties>
</file>