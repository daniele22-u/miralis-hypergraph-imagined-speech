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972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Imagined Speech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EEG with Graph Neural Networks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— March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Daniele Uras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Milano, DEIB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M.Sc. Thesis 2025–2026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we building?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neural semantic dictionary mapping EEG patterns to conceptual categories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imagined speech decoding using Graph Neural Networks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103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176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377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110 imagined Italian words from 59-channel EEG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2103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176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subjects × 5 sessions × ~220 trials ≈ 77,000 trials total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246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319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520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deep learning on raw EEG signal — no manual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32461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EBF5FB"/>
          </a:solidFill>
          <a:ln w="12700">
            <a:solidFill>
              <a:srgbClr val="EBF5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319272"/>
            <a:ext cx="3794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352044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Neural Networks — Li et al. 2025 (78% on similar dataset)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Dataset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properties and key finding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Specs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04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valid EEG channels (A1, A2, Pz, POz removed)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01168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rate: 256 Hz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51460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496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duration: ~1.5s (~384 samples)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 H5 files (70 subjects × 5 sessions)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52044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tensors: (n_trials, 59, 384)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1097280"/>
            <a:ext cx="4023360" cy="3703320"/>
          </a:xfrm>
          <a:prstGeom prst="roundRect">
            <a:avLst>
              <a:gd name="adj" fmla="val 1975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600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6000" dirty="0"/>
          </a:p>
        </p:txBody>
      </p:sp>
      <p:sp>
        <p:nvSpPr>
          <p:cNvPr id="20" name="Text 18"/>
          <p:cNvSpPr/>
          <p:nvPr/>
        </p:nvSpPr>
        <p:spPr>
          <a:xfrm>
            <a:off x="493776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Inter-subject variance (ε²)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03520" y="2743200"/>
            <a:ext cx="2743200" cy="0"/>
          </a:xfrm>
          <a:prstGeom prst="line">
            <a:avLst/>
          </a:prstGeom>
          <a:noFill/>
          <a:ln w="9525">
            <a:solidFill>
              <a:srgbClr val="6B7A99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937760" y="2880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5200" dirty="0"/>
          </a:p>
        </p:txBody>
      </p:sp>
      <p:sp>
        <p:nvSpPr>
          <p:cNvPr id="23" name="Text 21"/>
          <p:cNvSpPr/>
          <p:nvPr/>
        </p:nvSpPr>
        <p:spPr>
          <a:xfrm>
            <a:off x="4937760" y="349300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Inter-word variance (ε²)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3840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subject has a unique EEG 'fingerprint'.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0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Inter-subject variability dominates — not the word.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Reduction: 110 → 4–5 Classes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Word-based clustering schemes — stable and replicable across subjects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51560"/>
            <a:ext cx="8412480" cy="34747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78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0789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37360" y="1078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154680" y="10789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10789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4447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4996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14996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37360" y="1499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(Ward+SBERT)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154680" y="1499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clustering on semantic embeddings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40880" y="1499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1901952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956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1956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737360" y="1956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(Ward+SBERT)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54680" y="19568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clustering on semantic embeddings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1956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" y="23591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4140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25880" y="24140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737360" y="2414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(Ward+SBERT)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154680" y="24140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6 semantic clusters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0" y="24140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16.7%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2816352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28712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325880" y="28712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737360" y="28712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Grammatical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154680" y="28712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Verbs / Nouns / Modifiers / Function words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40880" y="28712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2735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3284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sem5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325880" y="33284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737360" y="33284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Neuroscientific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154680" y="33284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/ Emotions / Objects / Abstract / Func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040880" y="33284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730752"/>
            <a:ext cx="84124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7856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325880" y="37856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737360" y="3785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Concreteness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154680" y="3785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 / ACTION / STATE / ABSTRACT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04088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65760" y="3730752"/>
            <a:ext cx="54864" cy="3931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4187952"/>
            <a:ext cx="8412480" cy="420624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2428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phon4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325880" y="4242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737360" y="4242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Phonological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154680" y="42428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/ LAB / COR / DOR (consonantal onset)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40880" y="42428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65760" y="4187952"/>
            <a:ext cx="54864" cy="3931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57200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Highlighted: schemes tested in baseline experiments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concr4 — Neurolinguistic Motivation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categories based on neural substrates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D6E4F7"/>
          </a:solidFill>
          <a:ln w="19050">
            <a:solidFill>
              <a:srgbClr val="1E5FA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" y="120700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225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17320" y="1234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words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objects, places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Visual/ventral cortex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acqua, casa, macchina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D4F1E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27448" y="120700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225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15000" y="1234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words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27448" y="16276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verbs, cognitive processes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Motor/frontal areas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27448" y="2286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andare, fare, mangiare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FF3CD"/>
          </a:solidFill>
          <a:ln w="19050">
            <a:solidFill>
              <a:srgbClr val="FFB70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9768" y="312724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9768" y="3145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17320" y="3154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words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9768" y="3547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Emotions, bodily states, qualities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Limbic circuits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amore, paura, felicità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ADDDF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27448" y="312724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27448" y="3145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15000" y="3154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words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27448" y="35478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concepts, function words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Prefrontal cortex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27448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e.g.: forse, quindi, adesso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480060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Binder et al. 2011 JNeurosci  |  Vigliocco et al. 2014 PsychRev  |  Montefinese et al. 2014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Architectures Tested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end-to-end models on raw EEG signal (no feature engineering)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1E5FA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97280"/>
            <a:ext cx="2743200" cy="347472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52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517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CNN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79222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~1K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baseline — Lawhern 2018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097280"/>
            <a:ext cx="2743200" cy="34747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152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ShallowFBCSPNet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517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CNN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179222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~10K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9184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FBCSP filter bank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09728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097280"/>
            <a:ext cx="274320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152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1517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CNN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179222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~300K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convolutional blocks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9B59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880360"/>
            <a:ext cx="2743200" cy="347472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29352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EEGConformer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1480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Transformer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" y="35753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~800K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embedding + self-attention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FFB70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2880360"/>
            <a:ext cx="2743200" cy="34747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29352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291840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+ TCN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1840" y="35753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~200K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9184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temporal convolution network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08076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0F4FA"/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80760" y="2880360"/>
            <a:ext cx="2743200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9352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172200" y="3300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72200" y="357530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Params: ~5M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17220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large EEG corpus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Subject-Independent (concr4)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subjects 01–50  |  Val: 51–60  |  Test: 61–74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51560"/>
            <a:ext cx="8412480" cy="384048"/>
          </a:xfrm>
          <a:prstGeom prst="roundRect">
            <a:avLst>
              <a:gd name="adj" fmla="val 14286"/>
            </a:avLst>
          </a:prstGeom>
          <a:solidFill>
            <a:srgbClr val="FFB703">
              <a:alpha val="20000"/>
            </a:srgbClr>
          </a:solidFill>
          <a:ln w="19050">
            <a:solidFill>
              <a:srgbClr val="FFB70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9728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Level = 25%  (4 classes — random performance baseline)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1536192"/>
            <a:ext cx="8412480" cy="34747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563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5636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val_bacc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15636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0" y="15636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1920240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9751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1975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0" y="1975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19751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2304288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3591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2359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2359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23591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688336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7432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EEGConformer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74720" y="2743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03520" y="2743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0" y="27432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1.1h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72384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1272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474720" y="3127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0.2491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03520" y="3127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58000" y="31272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3456432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5112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74720" y="3511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03520" y="35112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58000" y="3511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1.2h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3840480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89534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ShallowFBCSPNet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38953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0.2542 ★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03520" y="38953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58000" y="3895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1.3h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434840"/>
            <a:ext cx="8412480" cy="438912"/>
          </a:xfrm>
          <a:prstGeom prst="roundRect">
            <a:avLst>
              <a:gd name="adj" fmla="val 12500"/>
            </a:avLst>
          </a:prstGeom>
          <a:solidFill>
            <a:srgbClr val="E63946">
              <a:alpha val="13000"/>
            </a:srgbClr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48056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converge to chance. Early stopping at 15–41 epochs with no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Normalization — Bomatter et al. 2024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per-subject bias from each trial independently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051560"/>
            <a:ext cx="6400800" cy="502920"/>
          </a:xfrm>
          <a:prstGeom prst="roundRect">
            <a:avLst>
              <a:gd name="adj" fmla="val 14545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097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(x − μ) / σ    (per trial, per channel)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34747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190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719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Norm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0" y="1719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32320" y="17190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075688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0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0.2499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−0.0003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2496312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5420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0" y="2542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2542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54203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−0.0004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916936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9626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EEGConformer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2962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2962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32320" y="29626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0.0000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337560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3832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0.2491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0.2517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132320" y="3383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+0.0026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3758184"/>
            <a:ext cx="8412480" cy="347472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803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00400" y="3803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0.2505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0" y="3803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0.2439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132320" y="38039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−0.0066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178808"/>
            <a:ext cx="84124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2245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ShallowFBCSPNet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200400" y="42245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0.2542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029200" y="42245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0.2525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132320" y="42245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−0.0017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462272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E63946">
              <a:alpha val="13000"/>
            </a:srgbClr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4988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 produces no significant improvement. The domain shift problem is deeper than normalization.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All Models Stay at Chance?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9728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E63946">
              <a:alpha val="9000"/>
            </a:srgbClr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34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= 0.85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Inter-subject variance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423160"/>
            <a:ext cx="1737360" cy="0"/>
          </a:xfrm>
          <a:prstGeom prst="line">
            <a:avLst/>
          </a:prstGeom>
          <a:noFill/>
          <a:ln w="12700">
            <a:solidFill>
              <a:srgbClr val="E6394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25603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of EEG variance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to the subject, not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imagined word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6B7A99">
              <a:alpha val="9000"/>
            </a:srgbClr>
          </a:solidFill>
          <a:ln w="25400">
            <a:solidFill>
              <a:srgbClr val="6B7A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234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= 0.03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Inter-word variance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0" y="2423160"/>
            <a:ext cx="1737360" cy="0"/>
          </a:xfrm>
          <a:prstGeom prst="line">
            <a:avLst/>
          </a:prstGeom>
          <a:noFill/>
          <a:ln w="12700">
            <a:solidFill>
              <a:srgbClr val="6B7A99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83280" y="25603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3% of variance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to the specific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imagined word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468880" cy="2926080"/>
          </a:xfrm>
          <a:prstGeom prst="roundRect">
            <a:avLst>
              <a:gd name="adj" fmla="val 4444"/>
            </a:avLst>
          </a:prstGeom>
          <a:solidFill>
            <a:srgbClr val="FFB703">
              <a:alpha val="9000"/>
            </a:srgbClr>
          </a:solidFill>
          <a:ln w="25400">
            <a:solidFill>
              <a:srgbClr val="FFB70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234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acc ≈ 0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2423160"/>
            <a:ext cx="1737360" cy="0"/>
          </a:xfrm>
          <a:prstGeom prst="line">
            <a:avLst/>
          </a:prstGeom>
          <a:noFill/>
          <a:ln w="12700">
            <a:solidFill>
              <a:srgbClr val="FFB70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126480" y="25603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normalization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solve deep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cross-subject domain shift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160520"/>
            <a:ext cx="8412480" cy="621792"/>
          </a:xfrm>
          <a:prstGeom prst="roundRect">
            <a:avLst>
              <a:gd name="adj" fmla="val 11765"/>
            </a:avLst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2452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Domain adaptation required: MMD, CORAL, Adversarial Training, or Contrastive Learning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baseline to hypergraph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97280"/>
            <a:ext cx="4069080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15214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361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Subject-specific baseline (leave-one-session-out)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Validate: does EEG contain decodable information?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17720" y="109728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FFB70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097280"/>
            <a:ext cx="4069080" cy="347472"/>
          </a:xfrm>
          <a:prstGeom prst="rect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15214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TERM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5361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Domain adaptation: MMD, CORAL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54880" y="19202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Adversarial cross-subject training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54880" y="230428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Contrastive subject-invariant learning (Shen 2022)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017520"/>
            <a:ext cx="4069080" cy="34747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07238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TERM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4564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Graph Attention Networks (GAT)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Spatial electrode structure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42245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Multi-head attention on EEG channels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17720" y="3017520"/>
            <a:ext cx="4069080" cy="1691640"/>
          </a:xfrm>
          <a:prstGeom prst="roundRect">
            <a:avLst>
              <a:gd name="adj" fmla="val 5405"/>
            </a:avLst>
          </a:prstGeom>
          <a:solidFill>
            <a:srgbClr val="F0F4FA"/>
          </a:solidFill>
          <a:ln w="25400">
            <a:solidFill>
              <a:srgbClr val="1E5F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17720" y="3017520"/>
            <a:ext cx="4069080" cy="347472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3072384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TARGET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4564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Hypergraph Neural Networks (DHSLP/DHSLF)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754880" y="38404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 et al. 2025 — target: &gt;40% on 4–5 classes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54880" y="422452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Dynamic hyperedge construction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Subject-Independent Baseline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subjects 01–50  |  Val: 51–60  |  Test: 61–74  |  4 classes (concr4)  |  Chance = 25%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566160"/>
            <a:ext cx="6858000" cy="0"/>
          </a:xfrm>
          <a:prstGeom prst="line">
            <a:avLst/>
          </a:prstGeom>
          <a:noFill/>
          <a:ln w="12700">
            <a:solidFill>
              <a:srgbClr val="6B7A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34472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23.5%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3081528"/>
            <a:ext cx="68580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9" name="Text 7"/>
          <p:cNvSpPr/>
          <p:nvPr/>
        </p:nvSpPr>
        <p:spPr>
          <a:xfrm>
            <a:off x="228600" y="296265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2596896"/>
            <a:ext cx="68580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1" name="Text 9"/>
          <p:cNvSpPr/>
          <p:nvPr/>
        </p:nvSpPr>
        <p:spPr>
          <a:xfrm>
            <a:off x="228600" y="247802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2112264"/>
            <a:ext cx="68580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3" name="Text 11"/>
          <p:cNvSpPr/>
          <p:nvPr/>
        </p:nvSpPr>
        <p:spPr>
          <a:xfrm>
            <a:off x="228600" y="19933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22960" y="1627632"/>
            <a:ext cx="68580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5" name="Text 13"/>
          <p:cNvSpPr/>
          <p:nvPr/>
        </p:nvSpPr>
        <p:spPr>
          <a:xfrm>
            <a:off x="228600" y="15087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25.5%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1143000"/>
            <a:ext cx="68580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7" name="Text 15"/>
          <p:cNvSpPr/>
          <p:nvPr/>
        </p:nvSpPr>
        <p:spPr>
          <a:xfrm>
            <a:off x="228600" y="10241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22960" y="2112264"/>
            <a:ext cx="6858000" cy="0"/>
          </a:xfrm>
          <a:prstGeom prst="line">
            <a:avLst/>
          </a:prstGeom>
          <a:noFill/>
          <a:ln w="19050">
            <a:solidFill>
              <a:srgbClr val="E6394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7726680" y="19842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25% chance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" y="1143000"/>
            <a:ext cx="0" cy="2423160"/>
          </a:xfrm>
          <a:prstGeom prst="line">
            <a:avLst/>
          </a:prstGeom>
          <a:noFill/>
          <a:ln w="12700">
            <a:solidFill>
              <a:srgbClr val="6B7A9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14984" y="2092879"/>
            <a:ext cx="347472" cy="1473281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" y="1928287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1426464" y="2121957"/>
            <a:ext cx="347472" cy="1444203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80744" y="1957365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68680" y="36210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157984" y="2199498"/>
            <a:ext cx="347472" cy="136666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12264" y="2034906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24.9%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569464" y="1947489"/>
            <a:ext cx="347472" cy="1618671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23744" y="1782897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25.2%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011680" y="36210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00984" y="1705173"/>
            <a:ext cx="347472" cy="1860987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55264" y="1540581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712464" y="1869948"/>
            <a:ext cx="347472" cy="169621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66744" y="1705356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25.3%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3154680" y="36210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FBCSP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43984" y="2073493"/>
            <a:ext cx="347472" cy="1492667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98264" y="1908901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4855464" y="2112264"/>
            <a:ext cx="347472" cy="14538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9744" y="1947672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4297680" y="36210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586984" y="2112264"/>
            <a:ext cx="347472" cy="1453896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1947672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5998464" y="2112264"/>
            <a:ext cx="347472" cy="145389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52744" y="1947672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25.0%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5440680" y="36210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Conformer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729984" y="2063801"/>
            <a:ext cx="347472" cy="1502359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84264" y="1899209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141464" y="2703515"/>
            <a:ext cx="347472" cy="862645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95744" y="2538923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6583680" y="36210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7754112" y="1645920"/>
            <a:ext cx="201168" cy="164592"/>
          </a:xfrm>
          <a:prstGeom prst="rect">
            <a:avLst/>
          </a:prstGeom>
          <a:solidFill>
            <a:srgbClr val="1A2A4A"/>
          </a:solidFill>
          <a:ln w="12700">
            <a:solidFill>
              <a:srgbClr val="1A2A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01000" y="161848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Norm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7754112" y="1892808"/>
            <a:ext cx="201168" cy="16459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01000" y="186537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Inst.Norm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65760" y="4133088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E63946">
              <a:alpha val="12000"/>
            </a:srgbClr>
          </a:solidFill>
          <a:ln w="19050">
            <a:solidFill>
              <a:srgbClr val="E6394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" y="417880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All 6 models at chance — cross-subject generalization fails  |  Instance Norm has negligible effect  |  Best: ShallowFBCSP 25.4%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Subject-Specific Baseline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Leave-one-session-out  |  26 subjects  |  4 classes (concr4)  |  Chance = 25%  |  Mean balanced accuracy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566160"/>
            <a:ext cx="6400800" cy="0"/>
          </a:xfrm>
          <a:prstGeom prst="line">
            <a:avLst/>
          </a:prstGeom>
          <a:noFill/>
          <a:ln w="12700">
            <a:solidFill>
              <a:srgbClr val="6B7A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34472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22.0%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3081528"/>
            <a:ext cx="64008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9" name="Text 7"/>
          <p:cNvSpPr/>
          <p:nvPr/>
        </p:nvSpPr>
        <p:spPr>
          <a:xfrm>
            <a:off x="228600" y="296265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2596896"/>
            <a:ext cx="64008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1" name="Text 9"/>
          <p:cNvSpPr/>
          <p:nvPr/>
        </p:nvSpPr>
        <p:spPr>
          <a:xfrm>
            <a:off x="228600" y="247802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2112264"/>
            <a:ext cx="64008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3" name="Text 11"/>
          <p:cNvSpPr/>
          <p:nvPr/>
        </p:nvSpPr>
        <p:spPr>
          <a:xfrm>
            <a:off x="228600" y="199339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28.6%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22960" y="1627632"/>
            <a:ext cx="64008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5" name="Text 13"/>
          <p:cNvSpPr/>
          <p:nvPr/>
        </p:nvSpPr>
        <p:spPr>
          <a:xfrm>
            <a:off x="228600" y="15087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30.8%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1143000"/>
            <a:ext cx="64008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ysDot"/>
          </a:ln>
        </p:spPr>
      </p:sp>
      <p:sp>
        <p:nvSpPr>
          <p:cNvPr id="17" name="Text 15"/>
          <p:cNvSpPr/>
          <p:nvPr/>
        </p:nvSpPr>
        <p:spPr>
          <a:xfrm>
            <a:off x="228600" y="10241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33.0%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22960" y="1143000"/>
            <a:ext cx="0" cy="2423160"/>
          </a:xfrm>
          <a:prstGeom prst="line">
            <a:avLst/>
          </a:prstGeom>
          <a:noFill/>
          <a:ln w="12700">
            <a:solidFill>
              <a:srgbClr val="6B7A9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6884" y="2266465"/>
            <a:ext cx="347472" cy="1299695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164" y="2101873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27.9%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1388364" y="2707040"/>
            <a:ext cx="347472" cy="859120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42644" y="2542448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25.9%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868680" y="3621024"/>
            <a:ext cx="97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EEGNet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043684" y="1803862"/>
            <a:ext cx="347472" cy="176229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7964" y="1639270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55164" y="2773126"/>
            <a:ext cx="347472" cy="79303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09444" y="2608534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25.6%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935480" y="3621024"/>
            <a:ext cx="97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FBCSP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10484" y="1891977"/>
            <a:ext cx="347472" cy="1674183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4764" y="1727385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29.6%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3521964" y="3279787"/>
            <a:ext cx="347472" cy="286373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6244" y="3115195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23.3%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002280" y="3621024"/>
            <a:ext cx="97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Deep4Net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177284" y="2530810"/>
            <a:ext cx="347472" cy="103535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31564" y="2366218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26.7%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588764" y="2861241"/>
            <a:ext cx="347472" cy="704919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43044" y="2696649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25.2%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4069080" y="3621024"/>
            <a:ext cx="97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44084" y="2354580"/>
            <a:ext cx="347472" cy="121158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98364" y="2189988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27.5%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5655564" y="3169643"/>
            <a:ext cx="347472" cy="396517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09844" y="3005051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23.8%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135880" y="3621024"/>
            <a:ext cx="97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ATCNet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310884" y="2288494"/>
            <a:ext cx="347472" cy="127766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65164" y="2123902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27.8%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6722364" y="2927327"/>
            <a:ext cx="347472" cy="638833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6644" y="2762735"/>
            <a:ext cx="438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24.9%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6202680" y="3621024"/>
            <a:ext cx="97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LaBraM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2960" y="2905298"/>
            <a:ext cx="6400800" cy="0"/>
          </a:xfrm>
          <a:prstGeom prst="line">
            <a:avLst/>
          </a:prstGeom>
          <a:noFill/>
          <a:ln w="19050">
            <a:solidFill>
              <a:srgbClr val="E63946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7333488" y="264926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25%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333488" y="1216152"/>
            <a:ext cx="201168" cy="164592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80376" y="11887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bacc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333488" y="1490472"/>
            <a:ext cx="201168" cy="164592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80376" y="1463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bacc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333488" y="1856232"/>
            <a:ext cx="1645920" cy="1371600"/>
          </a:xfrm>
          <a:prstGeom prst="roundRect">
            <a:avLst>
              <a:gd name="adj" fmla="val 5333"/>
            </a:avLst>
          </a:prstGeom>
          <a:solidFill>
            <a:srgbClr val="FFB703">
              <a:alpha val="12000"/>
            </a:srgbClr>
          </a:solidFill>
          <a:ln w="19050">
            <a:solidFill>
              <a:srgbClr val="FFB70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379208" y="19659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70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Overfit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379208" y="225856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60–99%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(vs 25–30% val)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65760" y="4133088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2EC4B6">
              <a:alpha val="12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" y="417880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EEG is decodable per-subject (val 27–30% &gt; 25% chance)  |  ShallowFBCSP best: 30.0%  |  Overfitting to train sessions = key bottleneck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Decoding Imagined Speech from EEG with GNNs — Project Status March 2026</dc:title>
  <dc:subject>PptxGenJS Presentation</dc:subject>
  <dc:creator>Daniele Uras</dc:creator>
  <cp:lastModifiedBy>Daniele Uras</cp:lastModifiedBy>
  <cp:revision>1</cp:revision>
  <dcterms:created xsi:type="dcterms:W3CDTF">2026-03-25T10:05:03Z</dcterms:created>
  <dcterms:modified xsi:type="dcterms:W3CDTF">2026-03-25T10:05:03Z</dcterms:modified>
</cp:coreProperties>
</file>