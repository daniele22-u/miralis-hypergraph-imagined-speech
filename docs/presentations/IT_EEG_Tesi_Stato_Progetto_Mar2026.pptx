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E8873A"/>
          </a:solidFill>
          <a:ln w="12700">
            <a:solidFill>
              <a:srgbClr val="E8873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5070348"/>
            <a:ext cx="9144000" cy="73152"/>
          </a:xfrm>
          <a:prstGeom prst="rect">
            <a:avLst/>
          </a:prstGeom>
          <a:solidFill>
            <a:srgbClr val="E8873A"/>
          </a:solidFill>
          <a:ln w="12700">
            <a:solidFill>
              <a:srgbClr val="E8873A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40080" y="548640"/>
            <a:ext cx="73152" cy="4023360"/>
          </a:xfrm>
          <a:prstGeom prst="rect">
            <a:avLst/>
          </a:prstGeom>
          <a:solidFill>
            <a:srgbClr val="E8873A"/>
          </a:solidFill>
          <a:ln w="12700">
            <a:solidFill>
              <a:srgbClr val="E8873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005840" y="777240"/>
            <a:ext cx="7772400" cy="1737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3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Decodifica dell'Imagined Speech</a:t>
            </a:r>
            <a:endParaRPr lang="en-US" sz="3400" dirty="0"/>
          </a:p>
          <a:p>
            <a:pPr algn="l" indent="0" marL="0">
              <a:lnSpc>
                <a:spcPct val="120000"/>
              </a:lnSpc>
              <a:buNone/>
            </a:pPr>
            <a:r>
              <a:rPr lang="en-US" sz="3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 EEG con Graph Neural Networks</a:t>
            </a:r>
            <a:endParaRPr lang="en-US" sz="3400" dirty="0"/>
          </a:p>
        </p:txBody>
      </p:sp>
      <p:sp>
        <p:nvSpPr>
          <p:cNvPr id="6" name="Text 4"/>
          <p:cNvSpPr/>
          <p:nvPr/>
        </p:nvSpPr>
        <p:spPr>
          <a:xfrm>
            <a:off x="1005840" y="2606040"/>
            <a:ext cx="7772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E887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Stato del Progetto — Marzo 2026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1005840" y="3246120"/>
            <a:ext cx="7772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Daniele Uras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1005840" y="3657600"/>
            <a:ext cx="7772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Politecnico di Milano, DEIB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8686800" y="482346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37160" cy="5143500"/>
          </a:xfrm>
          <a:prstGeom prst="rect">
            <a:avLst/>
          </a:prstGeom>
          <a:solidFill>
            <a:srgbClr val="E8873A"/>
          </a:solidFill>
          <a:ln w="12700">
            <a:solidFill>
              <a:srgbClr val="E8873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201168"/>
            <a:ext cx="8503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Obiettivo del Progetto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320040" y="758952"/>
            <a:ext cx="8503920" cy="27432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686800" y="482346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256032" y="1051560"/>
            <a:ext cx="201168" cy="201168"/>
          </a:xfrm>
          <a:prstGeom prst="ellipse">
            <a:avLst/>
          </a:prstGeom>
          <a:solidFill>
            <a:srgbClr val="E8873A"/>
          </a:solidFill>
          <a:ln w="12700">
            <a:solidFill>
              <a:srgbClr val="E8873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94360" y="960120"/>
            <a:ext cx="83210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5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Costruire un dizionario neurale semantico che mappi pattern EEG a categorie concettuali</a:t>
            </a:r>
            <a:endParaRPr lang="en-US" sz="1350" dirty="0"/>
          </a:p>
        </p:txBody>
      </p:sp>
      <p:sp>
        <p:nvSpPr>
          <p:cNvPr id="8" name="Shape 6"/>
          <p:cNvSpPr/>
          <p:nvPr/>
        </p:nvSpPr>
        <p:spPr>
          <a:xfrm>
            <a:off x="256032" y="1828800"/>
            <a:ext cx="201168" cy="201168"/>
          </a:xfrm>
          <a:prstGeom prst="ellipse">
            <a:avLst/>
          </a:prstGeom>
          <a:solidFill>
            <a:srgbClr val="E8873A"/>
          </a:solidFill>
          <a:ln w="12700">
            <a:solidFill>
              <a:srgbClr val="E8873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94360" y="1737360"/>
            <a:ext cx="83210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5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Task: classificare parole immaginate da segnali EEG a 59 canali, 256 Hz</a:t>
            </a:r>
            <a:endParaRPr lang="en-US" sz="1350" dirty="0"/>
          </a:p>
        </p:txBody>
      </p:sp>
      <p:sp>
        <p:nvSpPr>
          <p:cNvPr id="10" name="Shape 8"/>
          <p:cNvSpPr/>
          <p:nvPr/>
        </p:nvSpPr>
        <p:spPr>
          <a:xfrm>
            <a:off x="256032" y="2606040"/>
            <a:ext cx="201168" cy="201168"/>
          </a:xfrm>
          <a:prstGeom prst="ellipse">
            <a:avLst/>
          </a:prstGeom>
          <a:solidFill>
            <a:srgbClr val="E8873A"/>
          </a:solidFill>
          <a:ln w="12700">
            <a:solidFill>
              <a:srgbClr val="E8873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94360" y="2514600"/>
            <a:ext cx="83210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5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Dataset: 70 soggetti × 5 sessioni × ~220 trial = ~77.000 trial totali, 110 parole italiane</a:t>
            </a:r>
            <a:endParaRPr lang="en-US" sz="1350" dirty="0"/>
          </a:p>
        </p:txBody>
      </p:sp>
      <p:sp>
        <p:nvSpPr>
          <p:cNvPr id="12" name="Shape 10"/>
          <p:cNvSpPr/>
          <p:nvPr/>
        </p:nvSpPr>
        <p:spPr>
          <a:xfrm>
            <a:off x="256032" y="3383280"/>
            <a:ext cx="201168" cy="201168"/>
          </a:xfrm>
          <a:prstGeom prst="ellipse">
            <a:avLst/>
          </a:prstGeom>
          <a:solidFill>
            <a:srgbClr val="E8873A"/>
          </a:solidFill>
          <a:ln w="12700">
            <a:solidFill>
              <a:srgbClr val="E8873A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94360" y="3291840"/>
            <a:ext cx="83210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5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Approccio: deep learning end-to-end su segnale grezzo (no feature engineering manuale)</a:t>
            </a:r>
            <a:endParaRPr lang="en-US" sz="1350" dirty="0"/>
          </a:p>
        </p:txBody>
      </p:sp>
      <p:sp>
        <p:nvSpPr>
          <p:cNvPr id="14" name="Shape 12"/>
          <p:cNvSpPr/>
          <p:nvPr/>
        </p:nvSpPr>
        <p:spPr>
          <a:xfrm>
            <a:off x="256032" y="4160520"/>
            <a:ext cx="201168" cy="201168"/>
          </a:xfrm>
          <a:prstGeom prst="ellipse">
            <a:avLst/>
          </a:prstGeom>
          <a:solidFill>
            <a:srgbClr val="E8873A"/>
          </a:solidFill>
          <a:ln w="12700">
            <a:solidFill>
              <a:srgbClr val="E8873A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94360" y="4069080"/>
            <a:ext cx="83210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5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Obiettivo finale: Hypergraph Neural Networks — Li et al. 2025 (78% accuracy su dataset simile)</a:t>
            </a:r>
            <a:endParaRPr lang="en-US" sz="13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37160" cy="5143500"/>
          </a:xfrm>
          <a:prstGeom prst="rect">
            <a:avLst/>
          </a:prstGeom>
          <a:solidFill>
            <a:srgbClr val="E8873A"/>
          </a:solidFill>
          <a:ln w="12700">
            <a:solidFill>
              <a:srgbClr val="E8873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201168"/>
            <a:ext cx="8503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Dataset EEG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320040" y="758952"/>
            <a:ext cx="8503920" cy="27432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686800" y="482346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256032" y="868680"/>
            <a:ext cx="3931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Specifiche Tecniche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256032" y="1417320"/>
            <a:ext cx="164592" cy="164592"/>
          </a:xfrm>
          <a:prstGeom prst="ellipse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48640" y="1325880"/>
            <a:ext cx="37490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59 canali EEG validi (rimossi A1, A2, Pz, POz)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256032" y="2075688"/>
            <a:ext cx="164592" cy="164592"/>
          </a:xfrm>
          <a:prstGeom prst="ellipse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48640" y="1984248"/>
            <a:ext cx="37490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Frequenza campionamento: 256 Hz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256032" y="2734056"/>
            <a:ext cx="164592" cy="164592"/>
          </a:xfrm>
          <a:prstGeom prst="ellipse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48640" y="2642616"/>
            <a:ext cx="37490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Durata epoch: ~1.5s (~384 campioni)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256032" y="3392424"/>
            <a:ext cx="164592" cy="164592"/>
          </a:xfrm>
          <a:prstGeom prst="ellipse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48640" y="3300984"/>
            <a:ext cx="37490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350 file H5 (70 soggetti × 5 sessioni)</a:t>
            </a:r>
            <a:endParaRPr lang="en-US" sz="1250" dirty="0"/>
          </a:p>
        </p:txBody>
      </p:sp>
      <p:sp>
        <p:nvSpPr>
          <p:cNvPr id="15" name="Shape 13"/>
          <p:cNvSpPr/>
          <p:nvPr/>
        </p:nvSpPr>
        <p:spPr>
          <a:xfrm>
            <a:off x="256032" y="4050792"/>
            <a:ext cx="164592" cy="164592"/>
          </a:xfrm>
          <a:prstGeom prst="ellipse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48640" y="3959352"/>
            <a:ext cx="37490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Tensori PyTorch: (n_trials, 59, 384)</a:t>
            </a:r>
            <a:endParaRPr lang="en-US" sz="1250" dirty="0"/>
          </a:p>
        </p:txBody>
      </p:sp>
      <p:sp>
        <p:nvSpPr>
          <p:cNvPr id="17" name="Shape 15"/>
          <p:cNvSpPr/>
          <p:nvPr/>
        </p:nvSpPr>
        <p:spPr>
          <a:xfrm>
            <a:off x="4754880" y="841248"/>
            <a:ext cx="4114800" cy="397764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4754880" y="841248"/>
            <a:ext cx="4114800" cy="73152"/>
          </a:xfrm>
          <a:prstGeom prst="rect">
            <a:avLst/>
          </a:prstGeom>
          <a:solidFill>
            <a:srgbClr val="E8873A"/>
          </a:solidFill>
          <a:ln w="12700">
            <a:solidFill>
              <a:srgbClr val="E8873A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892040" y="960120"/>
            <a:ext cx="3840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E887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Finding Critico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4892040" y="1536192"/>
            <a:ext cx="3840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ε² inter-soggetto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4892040" y="1828800"/>
            <a:ext cx="38404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0.85</a:t>
            </a:r>
            <a:endParaRPr lang="en-US" sz="5400" dirty="0"/>
          </a:p>
        </p:txBody>
      </p:sp>
      <p:sp>
        <p:nvSpPr>
          <p:cNvPr id="22" name="Text 20"/>
          <p:cNvSpPr/>
          <p:nvPr/>
        </p:nvSpPr>
        <p:spPr>
          <a:xfrm>
            <a:off x="4892040" y="2651760"/>
            <a:ext cx="3840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ε² inter-parola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4892040" y="2944368"/>
            <a:ext cx="3840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E887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0.03</a:t>
            </a:r>
            <a:endParaRPr lang="en-US" sz="4400" dirty="0"/>
          </a:p>
        </p:txBody>
      </p:sp>
      <p:sp>
        <p:nvSpPr>
          <p:cNvPr id="24" name="Text 22"/>
          <p:cNvSpPr/>
          <p:nvPr/>
        </p:nvSpPr>
        <p:spPr>
          <a:xfrm>
            <a:off x="4892040" y="3566160"/>
            <a:ext cx="3840480" cy="68580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variabilità tra soggetti spiega l'85% della varianza EEG totale. Ogni soggetto ha una "firma" EEG unica.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37160" cy="5143500"/>
          </a:xfrm>
          <a:prstGeom prst="rect">
            <a:avLst/>
          </a:prstGeom>
          <a:solidFill>
            <a:srgbClr val="E8873A"/>
          </a:solidFill>
          <a:ln w="12700">
            <a:solidFill>
              <a:srgbClr val="E8873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201168"/>
            <a:ext cx="8503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Riduzione del Task: da 110 a 4-5 Classi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320040" y="758952"/>
            <a:ext cx="8503920" cy="27432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686800" y="482346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256032" y="795528"/>
            <a:ext cx="8595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Schemi word-based — stabili e replicabili cross-soggetto</a:t>
            </a:r>
            <a:endParaRPr lang="en-US" sz="1200" dirty="0"/>
          </a:p>
        </p:txBody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256032" y="1115568"/>
          <a:ext cx="8631936" cy="3511296"/>
        </p:xfrm>
        <a:graphic>
          <a:graphicData uri="http://schemas.openxmlformats.org/drawingml/2006/table">
            <a:tbl>
              <a:tblPr/>
              <a:tblGrid>
                <a:gridCol w="914400"/>
                <a:gridCol w="411480"/>
                <a:gridCol w="1554480"/>
                <a:gridCol w="4114800"/>
                <a:gridCol w="685800"/>
              </a:tblGrid>
              <a:tr h="43891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Schema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Tipo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Descrizione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Chance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2D374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ward4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2D374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2D374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Auto (Ward+SBERT)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2D374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Clustering gerarchico su embeddings semantici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2D374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25%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2D374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ward5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2D374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2D374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Auto (Ward+SBERT)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2D374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Clustering gerarchico su embeddings semantici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2D374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20%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2D374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ward6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2D374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2D374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Auto (Ward+SBERT)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2D374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Fine-grained, 6 cluster semantici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2D374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16.7%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2D374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pos4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2D374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2D374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Grammaticale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2D374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Verbi / Sostantivi / Modificatori / Funzione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2D374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25%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2D374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sem5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2D374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2D374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Neuroscientific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2D374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Azioni / Emozioni / Oggetti / Astratti / Funzione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2D374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20%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E887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concr4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3E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2D374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3E0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2D374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Concretezza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3E0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2D374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CONCR / AZIONE / STATO / ASTRATTO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3E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2D374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25%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3E0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E887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phon4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3E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2D374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3E0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2D374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Fonologico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3E0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2D374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VOC / LAB / COR / DOR (onset consonantico)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3E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2D374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25%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3E0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37160" cy="5143500"/>
          </a:xfrm>
          <a:prstGeom prst="rect">
            <a:avLst/>
          </a:prstGeom>
          <a:solidFill>
            <a:srgbClr val="E8873A"/>
          </a:solidFill>
          <a:ln w="12700">
            <a:solidFill>
              <a:srgbClr val="E8873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201168"/>
            <a:ext cx="8503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Schema concr4 — Motivazione Neurolinguistica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320040" y="758952"/>
            <a:ext cx="8503920" cy="27432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686800" y="482346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256032" y="914400"/>
            <a:ext cx="4206240" cy="173736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20624" y="1024128"/>
            <a:ext cx="2286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CONCR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420624" y="1389888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 parole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20624" y="1664208"/>
            <a:ext cx="3840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Oggetti fisici, luoghi → Cortex visivo/ventrale</a:t>
            </a:r>
            <a:endParaRPr lang="en-US" sz="1150" dirty="0"/>
          </a:p>
        </p:txBody>
      </p:sp>
      <p:sp>
        <p:nvSpPr>
          <p:cNvPr id="10" name="Text 8"/>
          <p:cNvSpPr/>
          <p:nvPr/>
        </p:nvSpPr>
        <p:spPr>
          <a:xfrm>
            <a:off x="420624" y="1993392"/>
            <a:ext cx="3840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es. acqua, casa, macchina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4773168" y="914400"/>
            <a:ext cx="4206240" cy="1737360"/>
          </a:xfrm>
          <a:prstGeom prst="rect">
            <a:avLst/>
          </a:prstGeom>
          <a:solidFill>
            <a:srgbClr val="E8873A"/>
          </a:solidFill>
          <a:ln w="12700">
            <a:solidFill>
              <a:srgbClr val="E8873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937760" y="1024128"/>
            <a:ext cx="2286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AZIONE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4937760" y="1389888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27 parole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4937760" y="1664208"/>
            <a:ext cx="3840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Verbi d'azione → Aree motorie/frontali</a:t>
            </a:r>
            <a:endParaRPr lang="en-US" sz="1150" dirty="0"/>
          </a:p>
        </p:txBody>
      </p:sp>
      <p:sp>
        <p:nvSpPr>
          <p:cNvPr id="15" name="Text 13"/>
          <p:cNvSpPr/>
          <p:nvPr/>
        </p:nvSpPr>
        <p:spPr>
          <a:xfrm>
            <a:off x="4937760" y="1993392"/>
            <a:ext cx="3840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es. andare, fare, mangiare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256032" y="2834640"/>
            <a:ext cx="4206240" cy="1737360"/>
          </a:xfrm>
          <a:prstGeom prst="rect">
            <a:avLst/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20624" y="2944368"/>
            <a:ext cx="2286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STATO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420624" y="3310128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21 parole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420624" y="3584448"/>
            <a:ext cx="3840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Emozioni, qualità → Circuiti limbici</a:t>
            </a:r>
            <a:endParaRPr lang="en-US" sz="1150" dirty="0"/>
          </a:p>
        </p:txBody>
      </p:sp>
      <p:sp>
        <p:nvSpPr>
          <p:cNvPr id="20" name="Text 18"/>
          <p:cNvSpPr/>
          <p:nvPr/>
        </p:nvSpPr>
        <p:spPr>
          <a:xfrm>
            <a:off x="420624" y="3913632"/>
            <a:ext cx="3840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es. amore, paura, felicità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4773168" y="2834640"/>
            <a:ext cx="4206240" cy="1737360"/>
          </a:xfrm>
          <a:prstGeom prst="rect">
            <a:avLst/>
          </a:prstGeom>
          <a:solidFill>
            <a:srgbClr val="546E7A"/>
          </a:solidFill>
          <a:ln w="12700">
            <a:solidFill>
              <a:srgbClr val="546E7A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937760" y="2944368"/>
            <a:ext cx="2286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ASTRATTO</a:t>
            </a:r>
            <a:endParaRPr lang="en-US" sz="1800" dirty="0"/>
          </a:p>
        </p:txBody>
      </p:sp>
      <p:sp>
        <p:nvSpPr>
          <p:cNvPr id="23" name="Text 21"/>
          <p:cNvSpPr/>
          <p:nvPr/>
        </p:nvSpPr>
        <p:spPr>
          <a:xfrm>
            <a:off x="4937760" y="3310128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44 parole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4937760" y="3584448"/>
            <a:ext cx="3840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Concetti relazionali → Cortex prefrontale</a:t>
            </a:r>
            <a:endParaRPr lang="en-US" sz="1150" dirty="0"/>
          </a:p>
        </p:txBody>
      </p:sp>
      <p:sp>
        <p:nvSpPr>
          <p:cNvPr id="25" name="Text 23"/>
          <p:cNvSpPr/>
          <p:nvPr/>
        </p:nvSpPr>
        <p:spPr>
          <a:xfrm>
            <a:off x="4937760" y="3913632"/>
            <a:ext cx="3840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es. forse, quindi, adesso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256032" y="4736592"/>
            <a:ext cx="863193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i="1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Riferimenti: Binder et al. 2011 JNeurosci; Vigliocco et al. 2014 PsychRev; Montefinese et al. 2014</a:t>
            </a:r>
            <a:endParaRPr lang="en-US" sz="9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37160" cy="5143500"/>
          </a:xfrm>
          <a:prstGeom prst="rect">
            <a:avLst/>
          </a:prstGeom>
          <a:solidFill>
            <a:srgbClr val="E8873A"/>
          </a:solidFill>
          <a:ln w="12700">
            <a:solidFill>
              <a:srgbClr val="E8873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201168"/>
            <a:ext cx="8503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Architetture Deep Learning Testate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320040" y="758952"/>
            <a:ext cx="8503920" cy="27432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686800" y="482346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00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256032" y="914400"/>
          <a:ext cx="8631936" cy="3328416"/>
        </p:xfrm>
        <a:graphic>
          <a:graphicData uri="http://schemas.openxmlformats.org/drawingml/2006/table">
            <a:tbl>
              <a:tblPr/>
              <a:tblGrid>
                <a:gridCol w="1554480"/>
                <a:gridCol w="1645920"/>
                <a:gridCol w="1188720"/>
                <a:gridCol w="3840480"/>
              </a:tblGrid>
              <a:tr h="47548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Modello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Tipo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Parametri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Note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2D374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EEGNet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2D374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CNN compatta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D374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~1K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2D374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Baseline leggero — Lawhern 2018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2D374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ShallowFBCSPNet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2D374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CNN shallow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D374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~10K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2D374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Basato su FBCSP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2D374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Deep4Net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2D374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CNN profonda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D374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~300K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2D374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 blocchi convoluzionali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2D374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EEGConformer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2D374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CNN + Transformer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D374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~800K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2D374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Patch embedding + self-attention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2D374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ATCNet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2D374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CNN + TCN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D374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~200K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2D374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Attention temporal convolution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2D374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Labram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2D374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Foundation model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D374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~5M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2D374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Pre-trained su large EEG corpus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</a:tr>
            </a:tbl>
          </a:graphicData>
        </a:graphic>
      </p:graphicFrame>
      <p:sp>
        <p:nvSpPr>
          <p:cNvPr id="7" name="Shape 4"/>
          <p:cNvSpPr/>
          <p:nvPr/>
        </p:nvSpPr>
        <p:spPr>
          <a:xfrm>
            <a:off x="256032" y="4389120"/>
            <a:ext cx="8631936" cy="566928"/>
          </a:xfrm>
          <a:prstGeom prst="rect">
            <a:avLst/>
          </a:prstGeom>
          <a:solidFill>
            <a:srgbClr val="EBF5FB"/>
          </a:solidFill>
          <a:ln w="12700">
            <a:solidFill>
              <a:srgbClr val="AED6F1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365760" y="4443984"/>
            <a:ext cx="8412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Setup Subject-Independent:  Train soggetti 1–50  |  Val 51–60  |  Test 61–74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37160" cy="5143500"/>
          </a:xfrm>
          <a:prstGeom prst="rect">
            <a:avLst/>
          </a:prstGeom>
          <a:solidFill>
            <a:srgbClr val="E8873A"/>
          </a:solidFill>
          <a:ln w="12700">
            <a:solidFill>
              <a:srgbClr val="E8873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201168"/>
            <a:ext cx="8503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Baseline Subject-Independent — concr4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320040" y="758952"/>
            <a:ext cx="8503920" cy="27432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686800" y="482346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256032" y="841248"/>
            <a:ext cx="8631936" cy="475488"/>
          </a:xfrm>
          <a:prstGeom prst="rect">
            <a:avLst/>
          </a:prstGeom>
          <a:solidFill>
            <a:srgbClr val="FFF3E0"/>
          </a:solidFill>
          <a:ln w="19050">
            <a:solidFill>
              <a:srgbClr val="E8873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65760" y="886968"/>
            <a:ext cx="8412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E887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Chance Level = 25%  (4 classi)</a:t>
            </a:r>
            <a:endParaRPr lang="en-US" sz="140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256032" y="1371600"/>
          <a:ext cx="8631936" cy="3072384"/>
        </p:xfrm>
        <a:graphic>
          <a:graphicData uri="http://schemas.openxmlformats.org/drawingml/2006/table">
            <a:tbl>
              <a:tblPr/>
              <a:tblGrid>
                <a:gridCol w="2560320"/>
                <a:gridCol w="1828800"/>
                <a:gridCol w="1828800"/>
                <a:gridCol w="1737360"/>
              </a:tblGrid>
              <a:tr h="43891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Modello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val_bacc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Epoche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Tempo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2D374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ATCNet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D374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0.2503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D374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22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D374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1.6h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2D374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Deep4Net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D374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0.2503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D374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41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D374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2.7h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2D374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EEGConformer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D374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0.2500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D374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15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D374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1.1h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2D374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EEGNet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D374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0.2491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D374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15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D374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1.0h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2D374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Labram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D374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0.2502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D374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15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D374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1.2h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2D374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ShallowFBCSPNet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3E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E887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0.2542*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3E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D374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19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3E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D374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1.3h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3E0"/>
                    </a:solidFill>
                  </a:tcPr>
                </a:tc>
              </a:tr>
            </a:tbl>
          </a:graphicData>
        </a:graphic>
      </p:graphicFrame>
      <p:sp>
        <p:nvSpPr>
          <p:cNvPr id="9" name="Text 6"/>
          <p:cNvSpPr/>
          <p:nvPr/>
        </p:nvSpPr>
        <p:spPr>
          <a:xfrm>
            <a:off x="256032" y="4279392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* miglior risultato — marginalmente sopra chance (rumore statistico)</a:t>
            </a:r>
            <a:endParaRPr lang="en-US" sz="1050" dirty="0"/>
          </a:p>
        </p:txBody>
      </p:sp>
      <p:sp>
        <p:nvSpPr>
          <p:cNvPr id="10" name="Shape 7"/>
          <p:cNvSpPr/>
          <p:nvPr/>
        </p:nvSpPr>
        <p:spPr>
          <a:xfrm>
            <a:off x="256032" y="4572000"/>
            <a:ext cx="8631936" cy="384048"/>
          </a:xfrm>
          <a:prstGeom prst="rect">
            <a:avLst/>
          </a:prstGeom>
          <a:solidFill>
            <a:srgbClr val="ECEFF1"/>
          </a:solidFill>
          <a:ln w="12700">
            <a:solidFill>
              <a:srgbClr val="B0BEC5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365760" y="4617720"/>
            <a:ext cx="8412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Tutti i modelli convergono a chance. Early stopping a 15–41 epoche.</a:t>
            </a:r>
            <a:endParaRPr lang="en-US" sz="11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37160" cy="5143500"/>
          </a:xfrm>
          <a:prstGeom prst="rect">
            <a:avLst/>
          </a:prstGeom>
          <a:solidFill>
            <a:srgbClr val="E8873A"/>
          </a:solidFill>
          <a:ln w="12700">
            <a:solidFill>
              <a:srgbClr val="E8873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201168"/>
            <a:ext cx="8503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Instance Normalization — Bomatter et al. 2024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320040" y="758952"/>
            <a:ext cx="8503920" cy="27432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686800" y="482346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256032" y="822960"/>
            <a:ext cx="8631936" cy="457200"/>
          </a:xfrm>
          <a:prstGeom prst="rect">
            <a:avLst/>
          </a:prstGeom>
          <a:solidFill>
            <a:srgbClr val="F7F9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65760" y="868680"/>
            <a:ext cx="8412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 = (x − μ) / σ  — normalizza ogni trial indipendentemente</a:t>
            </a:r>
            <a:endParaRPr lang="en-US" sz="1300" dirty="0"/>
          </a:p>
        </p:txBody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256032" y="1353312"/>
          <a:ext cx="8631936" cy="3072384"/>
        </p:xfrm>
        <a:graphic>
          <a:graphicData uri="http://schemas.openxmlformats.org/drawingml/2006/table">
            <a:tbl>
              <a:tblPr/>
              <a:tblGrid>
                <a:gridCol w="2560320"/>
                <a:gridCol w="1828800"/>
                <a:gridCol w="1828800"/>
                <a:gridCol w="1737360"/>
              </a:tblGrid>
              <a:tr h="43891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Modello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Senza Norm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 Norm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Δ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2D374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ATCNet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D374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0.2502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D374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0.2499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C6282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−0.0003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2D374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Deep4Net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D374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0.2504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D374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0.2500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C6282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−0.0004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2D374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EEGConformer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D374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0.2500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D374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0.2500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2D374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0.0000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2D374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EEGNet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D374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0.2491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D374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0.2517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2E7D3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+0.0026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2D374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Labram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D374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0.2505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D374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0.2439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C6282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−0.0066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2D374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ShallowFBCSPNet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D374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0.2542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D374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0.2525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C6282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−0.0017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</a:tr>
            </a:tbl>
          </a:graphicData>
        </a:graphic>
      </p:graphicFrame>
      <p:sp>
        <p:nvSpPr>
          <p:cNvPr id="9" name="Shape 6"/>
          <p:cNvSpPr/>
          <p:nvPr/>
        </p:nvSpPr>
        <p:spPr>
          <a:xfrm>
            <a:off x="256032" y="4544568"/>
            <a:ext cx="8631936" cy="429768"/>
          </a:xfrm>
          <a:prstGeom prst="rect">
            <a:avLst/>
          </a:prstGeom>
          <a:solidFill>
            <a:srgbClr val="FFEBEE"/>
          </a:solidFill>
          <a:ln w="12700">
            <a:solidFill>
              <a:srgbClr val="EF9A9A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365760" y="4590288"/>
            <a:ext cx="84124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C628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Instance Norm non produce miglioramenti significativi. Il problema è più profondo della normalizzazione.</a:t>
            </a:r>
            <a:endParaRPr lang="en-US" sz="11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37160" cy="5143500"/>
          </a:xfrm>
          <a:prstGeom prst="rect">
            <a:avLst/>
          </a:prstGeom>
          <a:solidFill>
            <a:srgbClr val="E8873A"/>
          </a:solidFill>
          <a:ln w="12700">
            <a:solidFill>
              <a:srgbClr val="E8873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201168"/>
            <a:ext cx="8503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Perché i Modelli Rimangono a Chance?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320040" y="758952"/>
            <a:ext cx="8503920" cy="27432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686800" y="482346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256032" y="868680"/>
            <a:ext cx="2834640" cy="338328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65760" y="987552"/>
            <a:ext cx="2615184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E887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ε² = 0.85</a:t>
            </a:r>
            <a:endParaRPr lang="en-US" sz="2800" dirty="0"/>
          </a:p>
        </p:txBody>
      </p:sp>
      <p:sp>
        <p:nvSpPr>
          <p:cNvPr id="8" name="Text 6"/>
          <p:cNvSpPr/>
          <p:nvPr/>
        </p:nvSpPr>
        <p:spPr>
          <a:xfrm>
            <a:off x="365760" y="1691640"/>
            <a:ext cx="261518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Variabilità inter-soggetto</a:t>
            </a:r>
            <a:endParaRPr lang="en-US" sz="1350" dirty="0"/>
          </a:p>
        </p:txBody>
      </p:sp>
      <p:sp>
        <p:nvSpPr>
          <p:cNvPr id="9" name="Text 7"/>
          <p:cNvSpPr/>
          <p:nvPr/>
        </p:nvSpPr>
        <p:spPr>
          <a:xfrm>
            <a:off x="365760" y="2212848"/>
            <a:ext cx="2615184" cy="173736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L'85% della varianza EEG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è dovuta al soggetto,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non alla parola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3163824" y="868680"/>
            <a:ext cx="2834640" cy="3383280"/>
          </a:xfrm>
          <a:prstGeom prst="rect">
            <a:avLst/>
          </a:prstGeom>
          <a:solidFill>
            <a:srgbClr val="E8873A"/>
          </a:solidFill>
          <a:ln w="12700">
            <a:solidFill>
              <a:srgbClr val="E8873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273552" y="987552"/>
            <a:ext cx="2615184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ε² = 0.03</a:t>
            </a:r>
            <a:endParaRPr lang="en-US" sz="2800" dirty="0"/>
          </a:p>
        </p:txBody>
      </p:sp>
      <p:sp>
        <p:nvSpPr>
          <p:cNvPr id="12" name="Text 10"/>
          <p:cNvSpPr/>
          <p:nvPr/>
        </p:nvSpPr>
        <p:spPr>
          <a:xfrm>
            <a:off x="3273552" y="1691640"/>
            <a:ext cx="261518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Variabilità inter-parola</a:t>
            </a:r>
            <a:endParaRPr lang="en-US" sz="1350" dirty="0"/>
          </a:p>
        </p:txBody>
      </p:sp>
      <p:sp>
        <p:nvSpPr>
          <p:cNvPr id="13" name="Text 11"/>
          <p:cNvSpPr/>
          <p:nvPr/>
        </p:nvSpPr>
        <p:spPr>
          <a:xfrm>
            <a:off x="3273552" y="2212848"/>
            <a:ext cx="2615184" cy="173736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Solo il 3% della varianza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è legata alla parola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immaginata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6071616" y="868680"/>
            <a:ext cx="2834640" cy="3383280"/>
          </a:xfrm>
          <a:prstGeom prst="rect">
            <a:avLst/>
          </a:prstGeom>
          <a:solidFill>
            <a:srgbClr val="546E7A"/>
          </a:solidFill>
          <a:ln w="12700">
            <a:solidFill>
              <a:srgbClr val="546E7A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181344" y="987552"/>
            <a:ext cx="2615184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Δ acc ≈ 0</a:t>
            </a:r>
            <a:endParaRPr lang="en-US" sz="2800" dirty="0"/>
          </a:p>
        </p:txBody>
      </p:sp>
      <p:sp>
        <p:nvSpPr>
          <p:cNvPr id="16" name="Text 14"/>
          <p:cNvSpPr/>
          <p:nvPr/>
        </p:nvSpPr>
        <p:spPr>
          <a:xfrm>
            <a:off x="6181344" y="1691640"/>
            <a:ext cx="261518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Instance Norm</a:t>
            </a:r>
            <a:endParaRPr lang="en-US" sz="1350" dirty="0"/>
          </a:p>
        </p:txBody>
      </p:sp>
      <p:sp>
        <p:nvSpPr>
          <p:cNvPr id="17" name="Text 15"/>
          <p:cNvSpPr/>
          <p:nvPr/>
        </p:nvSpPr>
        <p:spPr>
          <a:xfrm>
            <a:off x="6181344" y="2212848"/>
            <a:ext cx="2615184" cy="173736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normalizzazione non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risolve il domain shift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inter-soggetto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256032" y="4370832"/>
            <a:ext cx="8631936" cy="566928"/>
          </a:xfrm>
          <a:prstGeom prst="rect">
            <a:avLst/>
          </a:prstGeom>
          <a:solidFill>
            <a:srgbClr val="FFF3E0"/>
          </a:solidFill>
          <a:ln w="19050">
            <a:solidFill>
              <a:srgbClr val="E8873A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65760" y="4425696"/>
            <a:ext cx="84124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Servono tecniche di domain adaptation: MMD, CORAL, adversarial training</a:t>
            </a:r>
            <a:endParaRPr lang="en-US" sz="13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686800" y="482346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000" dirty="0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E8873A"/>
          </a:solidFill>
          <a:ln w="12700">
            <a:solidFill>
              <a:srgbClr val="E8873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164592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Prossimi Passi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256032" y="868680"/>
            <a:ext cx="2834640" cy="3977640"/>
          </a:xfrm>
          <a:prstGeom prst="rect">
            <a:avLst/>
          </a:prstGeom>
          <a:solidFill>
            <a:srgbClr val="E8873A"/>
          </a:solidFill>
          <a:ln w="12700">
            <a:solidFill>
              <a:srgbClr val="E8873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65760" y="914400"/>
            <a:ext cx="2615184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Immediato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365760" y="1426464"/>
            <a:ext cx="2615184" cy="36576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438912" y="1645920"/>
            <a:ext cx="146304" cy="146304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58368" y="1572768"/>
            <a:ext cx="2322576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Subject-specific baseline</a:t>
            </a:r>
            <a:endParaRPr lang="en-US" sz="1200" dirty="0"/>
          </a:p>
          <a:p>
            <a:pPr algn="l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(leave-one-session-out)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438912" y="2523744"/>
            <a:ext cx="146304" cy="146304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58368" y="2450592"/>
            <a:ext cx="2322576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Domain adaptation:</a:t>
            </a:r>
            <a:endParaRPr lang="en-US" sz="1200" dirty="0"/>
          </a:p>
          <a:p>
            <a:pPr algn="l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MMD, CORAL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438912" y="3401568"/>
            <a:ext cx="146304" cy="146304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58368" y="3328416"/>
            <a:ext cx="2322576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Adversarial training</a:t>
            </a:r>
            <a:endParaRPr lang="en-US" sz="1200" dirty="0"/>
          </a:p>
          <a:p>
            <a:pPr algn="l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cross-soggetto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3255264" y="868680"/>
            <a:ext cx="2834640" cy="3977640"/>
          </a:xfrm>
          <a:prstGeom prst="rect">
            <a:avLst/>
          </a:prstGeom>
          <a:solidFill>
            <a:srgbClr val="2962FF"/>
          </a:solidFill>
          <a:ln w="12700">
            <a:solidFill>
              <a:srgbClr val="2962FF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364992" y="914400"/>
            <a:ext cx="2615184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Breve Termine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3364992" y="1426464"/>
            <a:ext cx="2615184" cy="36576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3438144" y="1645920"/>
            <a:ext cx="146304" cy="146304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657600" y="1572768"/>
            <a:ext cx="2322576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Contrastive learning</a:t>
            </a:r>
            <a:endParaRPr lang="en-US" sz="1200" dirty="0"/>
          </a:p>
          <a:p>
            <a:pPr algn="l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subject-invariant</a:t>
            </a:r>
            <a:endParaRPr lang="en-US" sz="1200" dirty="0"/>
          </a:p>
          <a:p>
            <a:pPr algn="l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(Shen et al. 2022)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3438144" y="2523744"/>
            <a:ext cx="146304" cy="146304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657600" y="2450592"/>
            <a:ext cx="2322576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Graph Attention</a:t>
            </a:r>
            <a:endParaRPr lang="en-US" sz="1200" dirty="0"/>
          </a:p>
          <a:p>
            <a:pPr algn="l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Networks (GAT)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3438144" y="3401568"/>
            <a:ext cx="146304" cy="146304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3657600" y="3328416"/>
            <a:ext cx="2322576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Struttura spaziale</a:t>
            </a:r>
            <a:endParaRPr lang="en-US" sz="1200" dirty="0"/>
          </a:p>
          <a:p>
            <a:pPr algn="l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elettrodi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6254496" y="868680"/>
            <a:ext cx="2834640" cy="3977640"/>
          </a:xfrm>
          <a:prstGeom prst="rect">
            <a:avLst/>
          </a:prstGeom>
          <a:solidFill>
            <a:srgbClr val="1B5E20"/>
          </a:solidFill>
          <a:ln w="12700">
            <a:solidFill>
              <a:srgbClr val="1B5E20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364224" y="914400"/>
            <a:ext cx="2615184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Obiettivo Finale</a:t>
            </a:r>
            <a:endParaRPr lang="en-US" sz="1600" dirty="0"/>
          </a:p>
        </p:txBody>
      </p:sp>
      <p:sp>
        <p:nvSpPr>
          <p:cNvPr id="25" name="Shape 23"/>
          <p:cNvSpPr/>
          <p:nvPr/>
        </p:nvSpPr>
        <p:spPr>
          <a:xfrm>
            <a:off x="6364224" y="1426464"/>
            <a:ext cx="2615184" cy="36576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6437376" y="1645920"/>
            <a:ext cx="146304" cy="146304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656832" y="1572768"/>
            <a:ext cx="2322576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Hypergraph Neural</a:t>
            </a:r>
            <a:endParaRPr lang="en-US" sz="1200" dirty="0"/>
          </a:p>
          <a:p>
            <a:pPr algn="l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Networks</a:t>
            </a:r>
            <a:endParaRPr lang="en-US" sz="1200" dirty="0"/>
          </a:p>
        </p:txBody>
      </p:sp>
      <p:sp>
        <p:nvSpPr>
          <p:cNvPr id="28" name="Shape 26"/>
          <p:cNvSpPr/>
          <p:nvPr/>
        </p:nvSpPr>
        <p:spPr>
          <a:xfrm>
            <a:off x="6437376" y="2523744"/>
            <a:ext cx="146304" cy="146304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6656832" y="2450592"/>
            <a:ext cx="2322576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DHSLP/DHSLF</a:t>
            </a:r>
            <a:endParaRPr lang="en-US" sz="1200" dirty="0"/>
          </a:p>
          <a:p>
            <a:pPr algn="l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(Li et al. 2025)</a:t>
            </a:r>
            <a:endParaRPr lang="en-US" sz="1200" dirty="0"/>
          </a:p>
        </p:txBody>
      </p:sp>
      <p:sp>
        <p:nvSpPr>
          <p:cNvPr id="30" name="Shape 28"/>
          <p:cNvSpPr/>
          <p:nvPr/>
        </p:nvSpPr>
        <p:spPr>
          <a:xfrm>
            <a:off x="6437376" y="3401568"/>
            <a:ext cx="146304" cy="146304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6656832" y="3328416"/>
            <a:ext cx="2322576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Target: &gt;40% su</a:t>
            </a:r>
            <a:endParaRPr lang="en-US" sz="1200" dirty="0"/>
          </a:p>
          <a:p>
            <a:pPr algn="l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4-5 classi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Decodifica dell'Imagined Speech da EEG con Graph Neural Networks</dc:title>
  <dc:subject>PptxGenJS Presentation</dc:subject>
  <dc:creator>Daniele Uras</dc:creator>
  <cp:lastModifiedBy>Daniele Uras</cp:lastModifiedBy>
  <cp:revision>1</cp:revision>
  <dcterms:created xsi:type="dcterms:W3CDTF">2026-03-24T11:31:02Z</dcterms:created>
  <dcterms:modified xsi:type="dcterms:W3CDTF">2026-03-24T11:31:02Z</dcterms:modified>
</cp:coreProperties>
</file>